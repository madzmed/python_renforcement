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RENFORCEMENT PYTHON • PARTIE 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54964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Mastère Data &amp; Intelligence Artificielle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-594360"/>
            <a:ext cx="2926080" cy="2926080"/>
          </a:xfrm>
          <a:prstGeom prst="ellipse">
            <a:avLst/>
          </a:prstGeom>
          <a:solidFill>
            <a:srgbClr val="33273B">
              <a:alpha val="80000"/>
            </a:srgbClr>
          </a:solidFill>
          <a:ln w="12700">
            <a:solidFill>
              <a:srgbClr val="3327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4343400"/>
            <a:ext cx="2377440" cy="2377440"/>
          </a:xfrm>
          <a:prstGeom prst="ellipse">
            <a:avLst/>
          </a:prstGeom>
          <a:solidFill>
            <a:srgbClr val="3B2D44">
              <a:alpha val="90000"/>
            </a:srgbClr>
          </a:solidFill>
          <a:ln w="12700">
            <a:solidFill>
              <a:srgbClr val="3B2D4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9601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RENFORCEMENT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48840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5CF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 — Du script à l’analyse de données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7919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F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propre • fichiers • NumPy • Pandas • visualisation • performance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36576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4A3A52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6576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code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1911096" y="3657600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4A3A52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11096" y="365760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916936" y="3657600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4A3A52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16936" y="36576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849624" y="3657600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4A3A52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9624" y="36576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782312" y="3657600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4A3A52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82312" y="36576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715000" y="36576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4A3A52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15000" y="36576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</a:t>
            </a:r>
            <a:endParaRPr lang="en-US" sz="82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6217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1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Mastère Data &amp; Intelligence Artificielle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Objectifs de cette deuxième partie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Passer d’un code qui fonctionne à un traitement de données structuré, robuste et lisible.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71600"/>
            <a:ext cx="45720" cy="138074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481328"/>
            <a:ext cx="2350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1783080"/>
            <a:ext cx="2350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Découper un programme, organiser des modules et clarifier les responsabilités.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401568" y="1353312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9856" y="1371600"/>
            <a:ext cx="45720" cy="1380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481328"/>
            <a:ext cx="2350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2350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des fichiers, parcourir un dossier, valider et traiter plusieurs sources.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208776" y="1353312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7064" y="1371600"/>
            <a:ext cx="45720" cy="138074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1481328"/>
            <a:ext cx="2350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1783080"/>
            <a:ext cx="2350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Manipuler efficacement les données avec NumPy et Pandas.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9015984" y="1353312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34272" y="1371600"/>
            <a:ext cx="45720" cy="138074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0576" y="1481328"/>
            <a:ext cx="2350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Restituer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1783080"/>
            <a:ext cx="2350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Synthétiser les résultats avec des agrégations et des visualisations.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 du cours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F1E8F8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794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propre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20240" y="4069080"/>
            <a:ext cx="228600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30552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F1E8F8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30552" y="3794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projet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64992" y="4069080"/>
            <a:ext cx="228600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575304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75304" y="3794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Fichiers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9744" y="4069080"/>
            <a:ext cx="228600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20056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0056" y="3794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54496" y="4069080"/>
            <a:ext cx="228600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64808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E9F7F1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64808" y="3794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699248" y="4069080"/>
            <a:ext cx="228600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909560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E9F7F1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09560" y="3794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144000" y="4069080"/>
            <a:ext cx="228600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354312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FFF3E3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54312" y="3794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588752" y="4069080"/>
            <a:ext cx="228600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799064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FFF3E3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799064" y="3794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94360" y="49834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fil rouge : transformer des données brutes en information exploitable.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1704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56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Écrire du code propre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24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1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code doit être compris par l’ordinateur… mais surtout par les humains qui le maintiennent.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923544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886200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lisibilité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691640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8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459736" y="3886200"/>
            <a:ext cx="982980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59736" y="3886200"/>
            <a:ext cx="982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552444" y="3886200"/>
            <a:ext cx="1220724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52444" y="3886200"/>
            <a:ext cx="12207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responsabilités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64373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1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 • Du script Python à l’analyse de données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code peut fonctionner… et rester difficile à maintenir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qualité du code devient critique dès qu’un projet grandit ou qu’il est partagé.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35608"/>
            <a:ext cx="45720" cy="138074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545336"/>
            <a:ext cx="4773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Lisibilité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1847088"/>
            <a:ext cx="4773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 rapidement l’intention du code.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1928" y="1435608"/>
            <a:ext cx="45720" cy="138074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545336"/>
            <a:ext cx="4773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1847088"/>
            <a:ext cx="4773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de répéter la même logique à plusieurs endroits.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85800" y="32918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3310128"/>
            <a:ext cx="45720" cy="1380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3419856"/>
            <a:ext cx="4773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Couplage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3721608"/>
            <a:ext cx="4773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Limiter les dépendances inutiles entre composants.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1928" y="3310128"/>
            <a:ext cx="45720" cy="138074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8232" y="3419856"/>
            <a:ext cx="4773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Robustesse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3721608"/>
            <a:ext cx="4773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Gérer les cas inattendus sans casser tout le programme.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44068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 : rendre les changements futurs moins risqués et moins coûteux.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 nommer : faire lire l’intention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bon nom réduit le besoin de commentaires.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0" cy="2423160"/>
          </a:xfrm>
          <a:prstGeom prst="roundRect">
            <a:avLst>
              <a:gd name="adj" fmla="val 2264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36192"/>
            <a:ext cx="4700016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À éviter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a in d: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a &gt; 10: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x +=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1417320"/>
            <a:ext cx="5074920" cy="2423160"/>
          </a:xfrm>
          <a:prstGeom prst="roundRect">
            <a:avLst>
              <a:gd name="adj" fmla="val 2264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11112" y="1536192"/>
            <a:ext cx="4745736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Plus explicite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active_customers = 0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order_total in order_totals: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order_total &gt; 10: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active_customers += 1</a:t>
            </a:r>
            <a:endParaRPr lang="en-US" sz="122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Noms ou groupes nominaux : customer_count, total_price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36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Fonctions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4736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Verbes : calculate_total(), load_orders(), validate_email()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Booléens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: is_valid, has_access, can_export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736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4736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Majuscules : MAX_RETRIES, DEFAULT_TIMEOUT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fonction = une responsabilité principale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fonction courte et ciblée est plus simple à comprendre, tester et réutiliser.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206240" cy="3246120"/>
          </a:xfrm>
          <a:prstGeom prst="roundRect">
            <a:avLst>
              <a:gd name="adj" fmla="val 169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38770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process_customer(customer):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# valide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# nettoie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# calcule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# sauvegarde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# envoie un email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...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92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C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 de responsabilités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5392" y="148132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5392" y="148132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validate_customer()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24028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65392" y="239572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65392" y="239572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clean_customer()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15468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5392" y="331012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65392" y="331012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calculate_score()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06908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422452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65392" y="422452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save_customer()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66360" y="2743200"/>
            <a:ext cx="914400" cy="0"/>
          </a:xfrm>
          <a:prstGeom prst="line">
            <a:avLst/>
          </a:prstGeom>
          <a:noFill/>
          <a:ln w="31750">
            <a:solidFill>
              <a:srgbClr val="7A2CB5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355080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Découper permet de composer le traitement.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Commentaires et docstrings : expliquer le pourquoi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les commentaires qui répètent simplement ce que le code dit déjà.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CECEC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35608"/>
            <a:ext cx="45720" cy="1335024"/>
          </a:xfrm>
          <a:prstGeom prst="rect">
            <a:avLst/>
          </a:prstGeom>
          <a:solidFill>
            <a:srgbClr val="D94C4C"/>
          </a:solidFill>
          <a:ln w="12700">
            <a:solidFill>
              <a:srgbClr val="D94C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45336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Commentaire inutile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47088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 Incrémente i de 1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+= 1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58368" y="30632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E9F7F1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3081528"/>
            <a:ext cx="45720" cy="160934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91256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Commentaire utile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93008"/>
            <a:ext cx="31272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 une décision, une contrainte métier ou un contournement non évident.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6720840" cy="3291840"/>
          </a:xfrm>
          <a:prstGeom prst="roundRect">
            <a:avLst>
              <a:gd name="adj" fmla="val 1667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536192"/>
            <a:ext cx="639165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normalize_email(email: str) -&gt; str: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"""Normalise une adresse email avant comparaison.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Retourne une version en minuscules, sans espaces.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"""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email.strip().lower()</a:t>
            </a:r>
            <a:endParaRPr lang="en-US" sz="118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507492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code décrit le comment. La documentation clarifie le pourquoi.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8 : partager des conventions communes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style homogène évite que chaque développeur invente sa propre façon d’écrire Python.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800600" cy="548640"/>
          </a:xfrm>
          <a:prstGeom prst="roundRect">
            <a:avLst>
              <a:gd name="adj" fmla="val 6667"/>
            </a:avLst>
          </a:prstGeom>
          <a:solidFill>
            <a:srgbClr val="F3F0F5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snake_case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et fonctions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075688"/>
            <a:ext cx="480060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PascalCase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0756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825496"/>
            <a:ext cx="4800600" cy="548640"/>
          </a:xfrm>
          <a:prstGeom prst="roundRect">
            <a:avLst>
              <a:gd name="adj" fmla="val 6667"/>
            </a:avLst>
          </a:prstGeom>
          <a:solidFill>
            <a:srgbClr val="F3F0F5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8254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UPPER_CASE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8254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575304"/>
            <a:ext cx="480060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5753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espaces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35753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325112"/>
            <a:ext cx="4800600" cy="548640"/>
          </a:xfrm>
          <a:prstGeom prst="roundRect">
            <a:avLst>
              <a:gd name="adj" fmla="val 6667"/>
            </a:avLst>
          </a:prstGeom>
          <a:solidFill>
            <a:srgbClr val="F3F0F5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3251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Imports regroupés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4325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→ tiers → local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417320"/>
            <a:ext cx="4754880" cy="3337560"/>
          </a:xfrm>
          <a:prstGeom prst="roundRect">
            <a:avLst>
              <a:gd name="adj" fmla="val 1644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65392" y="1536192"/>
            <a:ext cx="442569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pathlib import Path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MAX_RETRIES = 3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DataLoader: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load_file(self, file_path: Path):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...</a:t>
            </a:r>
            <a:endParaRPr lang="en-US" sz="122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9834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8 ne rend pas le code correct.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Elle rend le code cohérent.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Refactorer : améliorer la structure sans changer le résultat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comportement reste le même ; l’organisation du code s’améliore.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490472"/>
            <a:ext cx="48828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Avant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user['age'] &gt;= 18 and user['country'] == 'FR':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user['active'] is True: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print('eligible')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3063240"/>
          </a:xfrm>
          <a:prstGeom prst="roundRect">
            <a:avLst>
              <a:gd name="adj" fmla="val 1791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490472"/>
            <a:ext cx="488289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Après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is_eligible(user):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is_adult = user['age'] &gt;= 18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is_french = user['country'] == 'FR'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is_adult and is_french and user['active']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is_eligible(user):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print('eligible')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892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Renommer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611880" y="48920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4892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Extraire une fonction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355080" y="48920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4892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Réduire la duplication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098280" y="48920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4892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Simplifier les conditions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1704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56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Structurer un projet Python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24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1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Passer d’un notebook ou d’un script unique à une base de code organisée et réutilisable.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745236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886200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513332" y="3886200"/>
            <a:ext cx="745236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13332" y="3886200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imports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368296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68296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136392" y="3886200"/>
            <a:ext cx="1101852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36392" y="3886200"/>
            <a:ext cx="11018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64373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1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 • Du script Python à l’analyse de données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script unique au petit projet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Lorsque le code grossit, séparer les responsabilités devient nécessaire.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3063240" cy="3429000"/>
          </a:xfrm>
          <a:prstGeom prst="roundRect">
            <a:avLst>
              <a:gd name="adj" fmla="val 1791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832" y="1581912"/>
            <a:ext cx="2734056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analysis.py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lecture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nettoyage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calcul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export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graphiques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configuration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...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3154680"/>
            <a:ext cx="960120" cy="0"/>
          </a:xfrm>
          <a:prstGeom prst="line">
            <a:avLst/>
          </a:prstGeom>
          <a:noFill/>
          <a:ln w="31750">
            <a:solidFill>
              <a:srgbClr val="7A2C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0" y="1417320"/>
            <a:ext cx="4800600" cy="3749040"/>
          </a:xfrm>
          <a:prstGeom prst="roundRect">
            <a:avLst>
              <a:gd name="adj" fmla="val 1463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50992" y="1536192"/>
            <a:ext cx="44714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project/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main.py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data_io.py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cleaning.py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analysis.py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config.py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data/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└── customers.csv</a:t>
            </a:r>
            <a:endParaRPr lang="en-US" sz="122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5440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fichier doit avoir une raison claire d’exister.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et imports : réutiliser au lieu de recopier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fichier Python peut devenir un module importable par d’autres fichiers.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983480" cy="1828800"/>
          </a:xfrm>
          <a:prstGeom prst="roundRect">
            <a:avLst>
              <a:gd name="adj" fmla="val 300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46542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cleaning.py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normalize_email(email):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email.strip().lower()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46520" y="1417320"/>
            <a:ext cx="4983480" cy="1828800"/>
          </a:xfrm>
          <a:prstGeom prst="roundRect">
            <a:avLst>
              <a:gd name="adj" fmla="val 300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11112" y="1536192"/>
            <a:ext cx="46542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main.py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cleaning import normalize_email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email = normalize_email(raw_email)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3611880"/>
            <a:ext cx="2651760" cy="0"/>
          </a:xfrm>
          <a:prstGeom prst="line">
            <a:avLst/>
          </a:prstGeom>
          <a:noFill/>
          <a:ln w="29210">
            <a:solidFill>
              <a:srgbClr val="7A2CB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1920240" y="3401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cleaning.py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3401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25196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4270248"/>
            <a:ext cx="45720" cy="101498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4379976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Réutilisation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4681728"/>
            <a:ext cx="2624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logique écrite une fois peut être importée partout.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617720" y="425196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6008" y="4270248"/>
            <a:ext cx="45720" cy="10149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82312" y="4379976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Lisibilité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782312" y="4681728"/>
            <a:ext cx="2624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fichier principal reste court et compréhensible.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321040" y="425196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9328" y="4270248"/>
            <a:ext cx="45720" cy="101498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85632" y="4379976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Testabilité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485632" y="4681728"/>
            <a:ext cx="2624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fonctions peuvent être testées indépendamment.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point d’entrée du programme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la définition des fonctions de leur exécution évite les effets de bord à l’import.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5120640" cy="3474720"/>
          </a:xfrm>
          <a:prstGeom prst="roundRect">
            <a:avLst>
              <a:gd name="adj" fmla="val 1579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44752"/>
            <a:ext cx="4791456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main():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data = load_data()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clean = clean_data(data)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export_data(clean)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__name__ == "__main__":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main()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37960" y="2057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20848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load_data()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4871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55280" y="2468880"/>
            <a:ext cx="164592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057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9F7F1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20848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clean_data()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4871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555480" y="2468880"/>
            <a:ext cx="164592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738360" y="2057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FF3E3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38360" y="20848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export_data()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738360" y="24871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023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main() orchestre.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modules spécialisés travaillent.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et constantes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les valeurs “magiques” dispersées dans le code.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4754880" cy="2286000"/>
          </a:xfrm>
          <a:prstGeom prst="roundRect">
            <a:avLst>
              <a:gd name="adj" fmla="val 240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81912"/>
            <a:ext cx="44256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Difficile à maintenir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retries &gt; 3: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...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requests.get(url, timeout=30)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37960" y="1463040"/>
            <a:ext cx="4754880" cy="2286000"/>
          </a:xfrm>
          <a:prstGeom prst="roundRect">
            <a:avLst>
              <a:gd name="adj" fmla="val 240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02552" y="1581912"/>
            <a:ext cx="44256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config.py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MAX_RETRIES = 3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REQUEST_TIMEOUT = 30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DATA_DIR = 'data'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4178808"/>
            <a:ext cx="45720" cy="110642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3272" y="4288536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Centraliser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590288"/>
            <a:ext cx="2761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Modifier une valeur à un seul endroit.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590288" y="416052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4178808"/>
            <a:ext cx="45720" cy="11064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4288536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590288"/>
            <a:ext cx="2761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Donner une signification métier aux valeurs.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302752" y="416052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4178808"/>
            <a:ext cx="45720" cy="110642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67344" y="4288536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67344" y="4590288"/>
            <a:ext cx="2761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Distinguer logique applicative et configuration.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1704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56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Manipuler fichiers et dossiers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24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1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Lire, écrire et parcourir des sources de données avant de passer à Pandas.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426464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26464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194560" y="3886200"/>
            <a:ext cx="745236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3886200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pathlib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049524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9524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3817620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17620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83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64373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1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 • Du script Python à l’analyse de données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et écrire un fichier avec with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context manager ferme automatiquement la ressource, même en cas d’erreur.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6492240" cy="2788920"/>
          </a:xfrm>
          <a:prstGeom prst="roundRect">
            <a:avLst>
              <a:gd name="adj" fmla="val 1967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444752"/>
            <a:ext cx="616305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with open('notes.txt', 'r', encoding='utf-8') as file: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content = file.read()</a:t>
            </a:r>
            <a:endParaRPr lang="en-US" sz="1230" dirty="0"/>
          </a:p>
          <a:p>
            <a:pPr algn="l" indent="0" marL="0">
              <a:buNone/>
            </a:pP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with open('result.txt', 'w', encoding='utf-8') as file: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file.write(content)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7726680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44968" y="1435608"/>
            <a:ext cx="45720" cy="10149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91272" y="1545336"/>
            <a:ext cx="3355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891272" y="1847088"/>
            <a:ext cx="3355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uniquement.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726680" y="2697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44968" y="2715768"/>
            <a:ext cx="45720" cy="101498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91272" y="2825496"/>
            <a:ext cx="3355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891272" y="3127248"/>
            <a:ext cx="3355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Écriture : remplace le contenu.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26680" y="39776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44968" y="3995928"/>
            <a:ext cx="45720" cy="101498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91272" y="4105656"/>
            <a:ext cx="3355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91272" y="4407408"/>
            <a:ext cx="3355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 à la fin du fichier.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80060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Toujours préciser l’encodage pour les fichiers texte.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Trois stratégies de lecture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choix dépend de la taille du fichier et de ce que l’on veut en faire.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35608"/>
            <a:ext cx="45720" cy="192938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545336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read()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1847088"/>
            <a:ext cx="30815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 tout le contenu en mémoire.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pour un petit fichier.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3128" y="1435608"/>
            <a:ext cx="45720" cy="19293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1545336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readline()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1847088"/>
            <a:ext cx="30815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 une ligne à la fois.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Utile pour un contrôle progressif.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02168" y="1435608"/>
            <a:ext cx="45720" cy="192938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8472" y="1545336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line in file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1847088"/>
            <a:ext cx="30815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Itère naturellement ligne par ligne.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 de tout charger.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3108960" y="4069080"/>
            <a:ext cx="5943600" cy="1325880"/>
          </a:xfrm>
          <a:prstGeom prst="roundRect">
            <a:avLst>
              <a:gd name="adj" fmla="val 4138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73552" y="4187952"/>
            <a:ext cx="561441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with open('large.log') as file: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line in file: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process(line)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623560"/>
            <a:ext cx="1083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de gros fichiers, penser flux plutôt que chargement complet.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pathlib : manipuler les chemins proprement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API orientée objet, lisible et portable entre systèmes.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3246120"/>
          </a:xfrm>
          <a:prstGeom prst="roundRect">
            <a:avLst>
              <a:gd name="adj" fmla="val 169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515721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pathlib import Path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data_dir = Path('data')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file_path = data_dir / 'customers.csv'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print(file_path.exists())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print(file_path.suffix)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print(file_path.name)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6720840" y="1325880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39128" y="1344168"/>
            <a:ext cx="45720" cy="60350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85432" y="1453896"/>
            <a:ext cx="4270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exists()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85432" y="1755648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chemin existe ?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720840" y="2176272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39128" y="2194560"/>
            <a:ext cx="45720" cy="60350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304288"/>
            <a:ext cx="4270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suffix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85432" y="2606040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720840" y="3026664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39128" y="3044952"/>
            <a:ext cx="45720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3154680"/>
            <a:ext cx="4270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85432" y="3456432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du fichier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720840" y="3877056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39128" y="3895344"/>
            <a:ext cx="45720" cy="60350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85432" y="4005072"/>
            <a:ext cx="4270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885432" y="4306824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parent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720840" y="4727448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9128" y="4745736"/>
            <a:ext cx="45720" cy="603504"/>
          </a:xfrm>
          <a:prstGeom prst="rect">
            <a:avLst/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85432" y="4855464"/>
            <a:ext cx="4270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stem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85432" y="5157216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sans extension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Parcourir automatiquement un dossier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C’est la base d’un traitement batch sur plusieurs fichiers.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120640" cy="2194560"/>
          </a:xfrm>
          <a:prstGeom prst="roundRect">
            <a:avLst>
              <a:gd name="adj" fmla="val 250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627632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pathlib import Path</a:t>
            </a:r>
            <a:endParaRPr lang="en-US" sz="1260" dirty="0"/>
          </a:p>
          <a:p>
            <a:pPr algn="l" indent="0" marL="0">
              <a:buNone/>
            </a:pP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file_path in Path('data').glob('*.csv'):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print(file_path.name)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process_csv(file_path)</a:t>
            </a:r>
            <a:endParaRPr lang="en-US" sz="1260" dirty="0"/>
          </a:p>
        </p:txBody>
      </p:sp>
      <p:sp>
        <p:nvSpPr>
          <p:cNvPr id="6" name="Shape 4"/>
          <p:cNvSpPr/>
          <p:nvPr/>
        </p:nvSpPr>
        <p:spPr>
          <a:xfrm>
            <a:off x="6720840" y="1417320"/>
            <a:ext cx="2926080" cy="2514600"/>
          </a:xfrm>
          <a:prstGeom prst="roundRect">
            <a:avLst>
              <a:gd name="adj" fmla="val 2182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85432" y="1536192"/>
            <a:ext cx="25968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january.csv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february.csv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march.csv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notes.txt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75520" y="2651760"/>
            <a:ext cx="1097280" cy="0"/>
          </a:xfrm>
          <a:prstGeom prst="line">
            <a:avLst/>
          </a:prstGeom>
          <a:noFill/>
          <a:ln w="25400">
            <a:solidFill>
              <a:srgbClr val="7A2CB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287000" y="226771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87000" y="22677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*.csv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4343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glob() sélectionne uniquement les fichiers qui correspondent au motif.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: des données tabulaires sans Pandas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module csv permet de lire des lignes sous forme de listes ou de dictionnaires.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572000" cy="1600200"/>
          </a:xfrm>
          <a:prstGeom prst="roundRect">
            <a:avLst>
              <a:gd name="adj" fmla="val 3429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42428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name,email,age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Alice,alice@mail.com,25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Bob,bob@mail.com,31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06440" y="1417320"/>
            <a:ext cx="5486400" cy="2926080"/>
          </a:xfrm>
          <a:prstGeom prst="roundRect">
            <a:avLst>
              <a:gd name="adj" fmla="val 1875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71032" y="1536192"/>
            <a:ext cx="515721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csv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with open('customers.csv', newline='') as file: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reader = csv.DictReader(file)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row in reader: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print(row['email'])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3813048"/>
            <a:ext cx="45720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3272" y="3922776"/>
            <a:ext cx="3904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DictReader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224528"/>
            <a:ext cx="3904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ligne devient un dictionnaire : colonne → valeur.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989320" y="47091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07608" y="4727448"/>
            <a:ext cx="45720" cy="83210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53912" y="4837176"/>
            <a:ext cx="4864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53912" y="5138928"/>
            <a:ext cx="4864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Pratique pour comprendre le format, mais vite verbeux pour l’analyse.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: structures imbriquées et échange de données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format correspond naturellement aux listes et dictionnaires Python.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840480" cy="2697480"/>
          </a:xfrm>
          <a:prstGeom prst="roundRect">
            <a:avLst>
              <a:gd name="adj" fmla="val 2034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351129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"name": "Alice",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"age": 25,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"skills": ["Python", "SQL"]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5669280" cy="2697480"/>
          </a:xfrm>
          <a:prstGeom prst="roundRect">
            <a:avLst>
              <a:gd name="adj" fmla="val 2034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39512" y="1536192"/>
            <a:ext cx="534009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json</a:t>
            </a:r>
            <a:endParaRPr lang="en-US" sz="1230" dirty="0"/>
          </a:p>
          <a:p>
            <a:pPr algn="l" indent="0" marL="0">
              <a:buNone/>
            </a:pP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with open('user.json') as file: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user = json.load(file)</a:t>
            </a:r>
            <a:endParaRPr lang="en-US" sz="1230" dirty="0"/>
          </a:p>
          <a:p>
            <a:pPr algn="l" indent="0" marL="0">
              <a:buNone/>
            </a:pP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print(user['skills'][0])</a:t>
            </a:r>
            <a:endParaRPr lang="en-US" sz="123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object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7712" y="4754880"/>
            <a:ext cx="338328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651760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array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19472" y="4754880"/>
            <a:ext cx="338328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303520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71232" y="4754880"/>
            <a:ext cx="338328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955280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222992" y="4754880"/>
            <a:ext cx="338328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0607040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/ float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1704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56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Valider et rendre le programme robuste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24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1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données réelles sont imparfaites : formats incorrects, valeurs manquantes et fichiers absents.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regex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426464" y="3886200"/>
            <a:ext cx="923544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26464" y="3886200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459736" y="3886200"/>
            <a:ext cx="923544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59736" y="3886200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493008" y="3886200"/>
            <a:ext cx="923544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93008" y="3886200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robustesse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64373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1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 • Du script Python à l’analyse de données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Expressions régulières : décrire un motif de texte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regex permet de rechercher, extraire ou remplacer des chaînes qui respectent une structure.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577840" cy="2743200"/>
          </a:xfrm>
          <a:prstGeom prst="roundRect">
            <a:avLst>
              <a:gd name="adj" fmla="val 200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52486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re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 = 'Client FR-2026-0042'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pattern = r'FR-\d{4}-\d{4}'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match = re.search(pattern, text)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29400" y="1234440"/>
            <a:ext cx="4343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47688" y="1252728"/>
            <a:ext cx="45720" cy="60350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93992" y="1362456"/>
            <a:ext cx="4087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\d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793992" y="1664208"/>
            <a:ext cx="4087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chiffre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629400" y="2075688"/>
            <a:ext cx="4343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47688" y="2093976"/>
            <a:ext cx="45720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93992" y="2203704"/>
            <a:ext cx="4087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793992" y="2505456"/>
            <a:ext cx="4087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fois ou +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629400" y="2916936"/>
            <a:ext cx="4343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47688" y="2935224"/>
            <a:ext cx="45720" cy="60350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3044952"/>
            <a:ext cx="4087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793992" y="3346704"/>
            <a:ext cx="4087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fois ou +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629400" y="3758184"/>
            <a:ext cx="4343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3776472"/>
            <a:ext cx="45720" cy="60350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93992" y="3886200"/>
            <a:ext cx="4087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{4}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93992" y="4187952"/>
            <a:ext cx="4087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exactement 4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629400" y="4599432"/>
            <a:ext cx="4343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47688" y="4617720"/>
            <a:ext cx="45720" cy="603504"/>
          </a:xfrm>
          <a:prstGeom prst="rect">
            <a:avLst/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93992" y="4727448"/>
            <a:ext cx="4087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^ / $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93992" y="5029200"/>
            <a:ext cx="4087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début / fin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0749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regex sont puissantes : viser des motifs simples et testables.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Valider avant de traiter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pipeline fiable vérifie ses hypothèses au lieu de supposer que les données sont correctes.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2161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216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valeur existe 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5856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5856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2402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240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Est-elle convertible 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282696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8269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264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2644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Respecte-t-elle la structure attendue 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306824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0682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28853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métier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42885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Est-elle cohérente 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1417320"/>
            <a:ext cx="4251960" cy="2971800"/>
          </a:xfrm>
          <a:prstGeom prst="roundRect">
            <a:avLst>
              <a:gd name="adj" fmla="val 1846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51192" y="1536192"/>
            <a:ext cx="3922776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validate_age(value):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age = int(value)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not 0 &lt;= age &lt;= 120: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raise ValueError('Âge incohérent')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age</a:t>
            </a:r>
            <a:endParaRPr lang="en-US" sz="116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800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fast : détecter le problème au plus tôt.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 : prévoir les cas qui peuvent échouer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try/except permet de décider quoi faire quand une opération ne se déroule pas comme prévu.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4160520"/>
          </a:xfrm>
          <a:prstGeom prst="roundRect">
            <a:avLst>
              <a:gd name="adj" fmla="val 1319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444752"/>
            <a:ext cx="492861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try: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age = int(raw_age)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except ValueError: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age = None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logging.warning('Âge invalide')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save(age)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finally: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close_resources()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19088" y="1252728"/>
            <a:ext cx="45720" cy="676656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362456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1664208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susceptible d’échouer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400800" y="2212848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231136"/>
            <a:ext cx="45720" cy="676656"/>
          </a:xfrm>
          <a:prstGeom prst="rect">
            <a:avLst/>
          </a:prstGeom>
          <a:solidFill>
            <a:srgbClr val="D94C4C"/>
          </a:solidFill>
          <a:ln w="12700">
            <a:solidFill>
              <a:srgbClr val="D94C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5392" y="2340864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64261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Réaction à une erreur ciblée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400800" y="3191256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3209544"/>
            <a:ext cx="45720" cy="676656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65392" y="331927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3621024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Exécuté si aucune erreur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400800" y="4169664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4187952"/>
            <a:ext cx="45720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65392" y="4297680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finally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4599432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Exécuté quoi qu’il arrive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C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except: trop large — cibler l’exception attendue.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programme robuste ne s’arrête pas au premier problème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distingue les erreurs bloquantes des anomalies que l’on peut tracer et ignorer.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892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3258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Fichier absent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31920" y="149047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D94C4C"/>
          </a:solidFill>
          <a:ln w="12700">
            <a:solidFill>
              <a:srgbClr val="D94C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1920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777240" y="2258568"/>
            <a:ext cx="4892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2585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Ligne invalide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0" y="24231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24231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Tracer + ignorer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77240" y="3191256"/>
            <a:ext cx="4892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19125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 optionnel vide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0" y="33558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33558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 par défaut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77240" y="4123944"/>
            <a:ext cx="4892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12394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inconnu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31920" y="428853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42885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 ou quarantaine</a:t>
            </a:r>
            <a:endParaRPr lang="en-US" sz="82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Stratégie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205740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20574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949440" y="2212848"/>
            <a:ext cx="320040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70648" y="205740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0648" y="20574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882128" y="2212848"/>
            <a:ext cx="320040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03336" y="205740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03336" y="20574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814816" y="2212848"/>
            <a:ext cx="320040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36024" y="205740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36024" y="20574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747504" y="2212848"/>
            <a:ext cx="320040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268712" y="205740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68712" y="20574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2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Détecter   →   Qualifier   →   Tracer   →   Décider   →   Continuer ou arrêter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400800" y="3657600"/>
            <a:ext cx="4754880" cy="1828800"/>
          </a:xfrm>
          <a:prstGeom prst="roundRect">
            <a:avLst>
              <a:gd name="adj" fmla="val 300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65392" y="3776472"/>
            <a:ext cx="44256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row in rows: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try: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clean = validate(row)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output.append(clean)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except ValueError as error: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rejected.append((row, str(error)))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1704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56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 : calculer sur des tableaux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24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1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 la vectorisation et les tableaux multidimensionnels avant d’utiliser Pandas.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745236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886200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ndarray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513332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13332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281428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1428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dtype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049524" y="3886200"/>
            <a:ext cx="1101852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9524" y="3886200"/>
            <a:ext cx="11018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vectorisation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261104" y="3886200"/>
            <a:ext cx="1042416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61104" y="388620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broadcasting</a:t>
            </a:r>
            <a:endParaRPr lang="en-US" sz="83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64373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1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 • Du script Python à l’analyse de données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NumPy ?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sait manipuler des listes ; NumPy est conçu pour le calcul numérique à grande échelle.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35608"/>
            <a:ext cx="45720" cy="138074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545336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Tableaux homogènes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1847088"/>
            <a:ext cx="29900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valeurs partagent généralement le même type numérique.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462272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435608"/>
            <a:ext cx="45720" cy="138074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545336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Vectorisation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1847088"/>
            <a:ext cx="29900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Appliquer une opération à un tableau entier sans boucle explicite.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435608"/>
            <a:ext cx="45720" cy="1380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4192" y="1545336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1847088"/>
            <a:ext cx="29900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Stockage compact et opérations optimisées en bas niveau.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148840" y="3520440"/>
            <a:ext cx="7909560" cy="1600200"/>
          </a:xfrm>
          <a:prstGeom prst="roundRect">
            <a:avLst>
              <a:gd name="adj" fmla="val 3429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13432" y="3639312"/>
            <a:ext cx="758037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numpy as np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prices = np.array([10, 20, 30, 40])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prices_with_tax = prices * 1.20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48640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Même expression → appliquée à tous les éléments.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Anatomie d’un ndarray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tableau NumPy possède une forme, une dimension et un type.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490472"/>
            <a:ext cx="332841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matrix = np.array([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[10, 20, 30],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[40, 50, 60]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83480" y="1298448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0" y="12984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2984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(2, 3)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29844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lignes × 3 colonnes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83480" y="2258568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225856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ndim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5856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25856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 dimensions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3218688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321868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dtype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21868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int64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21868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des valeurs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4178808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17880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17880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41788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total d’éléments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forme du tableau détermine quelles opérations sont possibles.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Indexation, slicing et masques booléens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mêmes idées que les listes Python, mais étendues aux tableaux multidimensionnels.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669280" cy="2926080"/>
          </a:xfrm>
          <a:prstGeom prst="roundRect">
            <a:avLst>
              <a:gd name="adj" fmla="val 1875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534009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 = np.array([10, 20, 30, 40, 50])</a:t>
            </a:r>
            <a:endParaRPr lang="en-US" sz="1240" dirty="0"/>
          </a:p>
          <a:p>
            <a:pPr algn="l" indent="0" marL="0">
              <a:buNone/>
            </a:pP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values[0]        # 10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values[1:4]      # [20, 30, 40]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values[values&gt;25] # [30, 40, 50]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6903720" y="182880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F1E8F8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44968" y="182880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F1E8F8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44968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86216" y="182880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E9F7F1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86216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27464" y="182880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E9F7F1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27464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268712" y="182880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E9F7F1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68712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= values &gt; 25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False   False   True   True   True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masque est lui-même un tableau de booléens.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Agrégations et broadcasting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 combine des opérations sur tableaux avec des calculs statistiques simples.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754880" cy="2560320"/>
          </a:xfrm>
          <a:prstGeom prst="roundRect">
            <a:avLst>
              <a:gd name="adj" fmla="val 2143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44256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np.array([12, 16, 9, 18, 15])</a:t>
            </a:r>
            <a:endParaRPr lang="en-US" sz="1280" dirty="0"/>
          </a:p>
          <a:p>
            <a:pPr algn="l" indent="0" marL="0">
              <a:buNone/>
            </a:pP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scores.mean()  # 14.0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scores.max()   # 18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scores.sum()   # 70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5257800" cy="2926080"/>
          </a:xfrm>
          <a:prstGeom prst="roundRect">
            <a:avLst>
              <a:gd name="adj" fmla="val 1875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53912" y="1536192"/>
            <a:ext cx="492861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matrix = np.array([[1, 2, 3],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     [4, 5, 6]])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matrix + 10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[[11, 12, 13],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 [14, 15, 16]]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868680" y="438912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4407408"/>
            <a:ext cx="45720" cy="101498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3272" y="451713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Agrégation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818888"/>
            <a:ext cx="4133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Réduit plusieurs valeurs en une mesure : moyenne, somme, minimum…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172200" y="461772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4636008"/>
            <a:ext cx="45720" cy="10149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36792" y="474573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36792" y="5047488"/>
            <a:ext cx="4636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Étend automatiquement une opération compatible aux dimensions du tableau.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Boucle Python vs vectorisation NumPy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gain principal vient du fait que la boucle est exécutée dans du code natif optimisé.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4937760" cy="2011680"/>
          </a:xfrm>
          <a:prstGeom prst="roundRect">
            <a:avLst>
              <a:gd name="adj" fmla="val 2727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627632"/>
            <a:ext cx="460857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Python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 = []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value in values: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result.append(value * 1.2)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150876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48272" y="1627632"/>
            <a:ext cx="42428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NumPy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 = values * 1.2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423160"/>
            <a:ext cx="731520" cy="0"/>
          </a:xfrm>
          <a:prstGeom prst="line">
            <a:avLst/>
          </a:prstGeom>
          <a:noFill/>
          <a:ln w="31750">
            <a:solidFill>
              <a:srgbClr val="7A2CB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" y="406908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4087368"/>
            <a:ext cx="45720" cy="115214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4197096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verbeux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4498848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logique est décrite élément par élément.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526280" y="406908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4087368"/>
            <a:ext cx="45720" cy="115214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90872" y="4197096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déclaratif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4498848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décrit l’opération voulue sur l’ensemble.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183880" y="406908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02168" y="4087368"/>
            <a:ext cx="45720" cy="115214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8472" y="4197096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Souvent plus rapide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4498848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L’implémentation est optimisée pour le calcul numérique.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1704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56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: manipuler des données tabulaires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24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1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Importer, explorer, nettoyer, transformer, agréger et fusionner des datasets.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685800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886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453896" y="3886200"/>
            <a:ext cx="86410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53896" y="3886200"/>
            <a:ext cx="8641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DataFrame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427732" y="3886200"/>
            <a:ext cx="685800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7732" y="3886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223260" y="3886200"/>
            <a:ext cx="745236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3260" y="3886200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groupby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078224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78224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</a:t>
            </a:r>
            <a:endParaRPr lang="en-US" sz="83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64373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1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 • Du script Python à l’analyse de données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DataFrame : une table avec des labels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ajoute aux tableaux des noms de colonnes, des index et de nombreux outils de transformation.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2011680" cy="502920"/>
          </a:xfrm>
          <a:prstGeom prst="rect">
            <a:avLst/>
          </a:prstGeom>
          <a:solidFill>
            <a:srgbClr val="EDE4F3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0" y="1508760"/>
            <a:ext cx="1463040" cy="502920"/>
          </a:xfrm>
          <a:prstGeom prst="rect">
            <a:avLst/>
          </a:prstGeom>
          <a:solidFill>
            <a:srgbClr val="EDE4F3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1188720" cy="502920"/>
          </a:xfrm>
          <a:prstGeom prst="rect">
            <a:avLst/>
          </a:prstGeom>
          <a:solidFill>
            <a:srgbClr val="EDE4F3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508760"/>
            <a:ext cx="1645920" cy="502920"/>
          </a:xfrm>
          <a:prstGeom prst="rect">
            <a:avLst/>
          </a:prstGeom>
          <a:solidFill>
            <a:srgbClr val="EDE4F3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1508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201168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0116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011680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0116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011680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20116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011680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20116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2542032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2542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254203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0" y="254203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254203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25420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2542032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25420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307238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30723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Chloé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307238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26080" y="30723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89120" y="3072384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89120" y="307238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3072384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77840" y="307238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55280" y="1417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73568" y="1435608"/>
            <a:ext cx="45720" cy="106070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19872" y="1545336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Colonnes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119872" y="1847088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observées.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7955280" y="27432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73568" y="2761488"/>
            <a:ext cx="45720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19872" y="2871216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Lignes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119872" y="3172968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Observations ou enregistrements.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7955280" y="40690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73568" y="4087368"/>
            <a:ext cx="45720" cy="106070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19872" y="4197096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119872" y="4498848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Identifiant de ligne géré par Pandas.</a:t>
            </a:r>
            <a:endParaRPr lang="en-US" sz="930" dirty="0"/>
          </a:p>
        </p:txBody>
      </p:sp>
      <p:sp>
        <p:nvSpPr>
          <p:cNvPr id="48" name="Text 46"/>
          <p:cNvSpPr txBox="1"/>
          <p:nvPr/>
        </p:nvSpPr>
        <p:spPr>
          <a:xfrm>
            <a:off x="914400" y="5257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= une colonne • DataFrame = plusieurs Series alignées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Importer puis explorer avant de transformer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Toujours commencer par comprendre la structure du dataset.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937760" cy="3749040"/>
          </a:xfrm>
          <a:prstGeom prst="roundRect">
            <a:avLst>
              <a:gd name="adj" fmla="val 1463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444752"/>
            <a:ext cx="460857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pandas as pd</a:t>
            </a:r>
            <a:endParaRPr lang="en-US" sz="1230" dirty="0"/>
          </a:p>
          <a:p>
            <a:pPr algn="l" indent="0" marL="0">
              <a:buNone/>
            </a:pP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= pd.read_csv('customers.csv')</a:t>
            </a:r>
            <a:endParaRPr lang="en-US" sz="1230" dirty="0"/>
          </a:p>
          <a:p>
            <a:pPr algn="l" indent="0" marL="0">
              <a:buNone/>
            </a:pP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df.head()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df.info()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df.describe()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df.shape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df.dtypes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0488" y="1252728"/>
            <a:ext cx="45720" cy="713232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36792" y="136245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1664208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quoi ressemblent les premières lignes ?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172200" y="2221992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240280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6792" y="2350008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info()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2651760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Quels types et combien de valeurs manquantes ?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72200" y="3209544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3227832"/>
            <a:ext cx="45720" cy="713232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3337560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describe()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363931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Quelles distributions numériques ?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172200" y="4197096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4215384"/>
            <a:ext cx="45720" cy="713232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36792" y="4325112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36792" y="4626864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Combien de lignes et colonnes ?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5349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Explorer d’abord. Transformer ensuite.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Sélectionner et filtrer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filtres booléens permettent de traduire directement des règles métier.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943600" cy="4251960"/>
          </a:xfrm>
          <a:prstGeom prst="roundRect">
            <a:avLst>
              <a:gd name="adj" fmla="val 129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353312"/>
            <a:ext cx="5614416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Une colonne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df['revenue']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Plusieurs colonnes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df[['name', 'revenue']]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Filtre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france = df[df['country'] == 'FR']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Plusieurs conditions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active = df[(df['age'] &gt;= 25) &amp; (df['revenue'] &gt; 1000)]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7086600" y="14173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04888" y="1435608"/>
            <a:ext cx="45720" cy="110642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51192" y="1545336"/>
            <a:ext cx="3767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251192" y="1847088"/>
            <a:ext cx="3767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Sélection par labels et conditions.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086600" y="28346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4888" y="2852928"/>
            <a:ext cx="45720" cy="11064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51192" y="2962656"/>
            <a:ext cx="3767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iloc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251192" y="3264408"/>
            <a:ext cx="3767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Sélection par positions numériques.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086600" y="42519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4888" y="4270248"/>
            <a:ext cx="45720" cy="110642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51192" y="4379976"/>
            <a:ext cx="3767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Masque booléen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251192" y="4681728"/>
            <a:ext cx="3767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série True/False choisit les lignes conservées.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Nettoyer : valeurs manquantes, doublons et types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qualité de l’analyse dépend directement de la qualité des données.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344168"/>
            <a:ext cx="45720" cy="138074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45389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Valeurs manquantes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1755648"/>
            <a:ext cx="4636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isna() • fillna() • dropna()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344168"/>
            <a:ext cx="45720" cy="138074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145389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Doublons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1755648"/>
            <a:ext cx="4636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duplicated() • drop_duplicates()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85800" y="32461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3264408"/>
            <a:ext cx="45720" cy="1380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337413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3675888"/>
            <a:ext cx="4636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astype() • to_numeric() • to_datetime()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3264408"/>
            <a:ext cx="45720" cy="138074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6792" y="337413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675888"/>
            <a:ext cx="4636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str.strip() • str.lower() • str.replace()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1965960" y="480060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30552" y="4919472"/>
            <a:ext cx="79004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df['email'] = df['email'].str.strip().str.lower()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df['age'] = pd.to_numeric(df['age'], errors='coerce')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= df.drop_duplicates()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et créer de nouvelles variables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analyse repose souvent sur des colonnes dérivées des données brutes.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6766560" cy="3611880"/>
          </a:xfrm>
          <a:prstGeom prst="roundRect">
            <a:avLst>
              <a:gd name="adj" fmla="val 1519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444752"/>
            <a:ext cx="6437376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df['revenue_with_tax'] = df['revenue'] * 1.20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df['segment'] = df['revenue'].apply(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lambda value: 'premium' if value &gt; 1500 else 'standard'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= df.rename(columns={'revenue': 'revenue_eur'})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7955280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1435608"/>
            <a:ext cx="45720" cy="101498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19872" y="1545336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Opérations vectorisées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119872" y="1847088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Préférer les opérations sur colonnes quand elles existent.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955280" y="2743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73568" y="2761488"/>
            <a:ext cx="45720" cy="10149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19872" y="2871216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/ replace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3172968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des catégories ou valeurs simples.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955280" y="40690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73568" y="4087368"/>
            <a:ext cx="45720" cy="101498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9872" y="4197096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4498848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Flexible, mais pas toujours la solution la plus performante.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GroupBy : passer des lignes aux indicateurs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Regrouper les observations puis calculer des agrégats par catégorie.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5897880" cy="3749040"/>
          </a:xfrm>
          <a:prstGeom prst="roundRect">
            <a:avLst>
              <a:gd name="adj" fmla="val 1463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399032"/>
            <a:ext cx="556869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summary = (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df.groupby('country')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.agg(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customers=('name', 'count'),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avg_revenue=('revenue', 'mean'),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total_revenue=('revenue', 'sum')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)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7132320" y="196596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F1E8F8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0" y="2057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68896" y="2359152"/>
            <a:ext cx="1161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par groupe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8366760" y="2468880"/>
            <a:ext cx="155448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49640" y="196596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E9F7F1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2057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86216" y="2359152"/>
            <a:ext cx="1161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Calculer une mesure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9784080" y="2468880"/>
            <a:ext cx="155448" cy="0"/>
          </a:xfrm>
          <a:prstGeom prst="line">
            <a:avLst/>
          </a:prstGeom>
          <a:noFill/>
          <a:ln w="1397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966960" y="196596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66960" y="2057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003536" y="2359152"/>
            <a:ext cx="1161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Rassembler le résultat</a:t>
            </a:r>
            <a:endParaRPr lang="en-US" sz="83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40233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groupby() est l’équivalent conceptuel du GROUP BY en SQL.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Combiner plusieurs datasets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 empile ; merge relie des tables grâce à une clé.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669280" cy="3566160"/>
          </a:xfrm>
          <a:prstGeom prst="roundRect">
            <a:avLst>
              <a:gd name="adj" fmla="val 1538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444752"/>
            <a:ext cx="5340096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Empiler des fichiers similaires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all_months = pd.concat([jan, feb, mar])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Relier clients et commandes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 = customers.merge(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orders,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on='customer_id',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how='left'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22008" y="1435608"/>
            <a:ext cx="45720" cy="106070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68312" y="1545336"/>
            <a:ext cx="3813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68312" y="1847088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Même structure → ajouter des lignes ou colonnes.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903720" y="278892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22008" y="2807208"/>
            <a:ext cx="45720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68312" y="2916936"/>
            <a:ext cx="3813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3218688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différentes → relation via une clé.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4709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JOIN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 et dates : deux sources fréquentes de problèmes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fournit des accesseurs spécialisés : .str et .dt.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126480" cy="2971800"/>
          </a:xfrm>
          <a:prstGeom prst="roundRect">
            <a:avLst>
              <a:gd name="adj" fmla="val 1846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5797296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df['email'] = df['email'].str.strip().str.lower()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df['date'] = pd.to_datetime(df['date'], errors='coerce')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df['year'] = df['date'].dt.year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df['month'] = df['date'].dt.month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7360920" y="14173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79208" y="1435608"/>
            <a:ext cx="45720" cy="101498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25512" y="1545336"/>
            <a:ext cx="3264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.str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525512" y="1847088"/>
            <a:ext cx="3264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Nettoyage, recherche, extraction et remplacement sur le texte.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360920" y="27432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9208" y="2761488"/>
            <a:ext cx="45720" cy="10149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25512" y="2871216"/>
            <a:ext cx="3264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.dt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525512" y="3172968"/>
            <a:ext cx="3264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Année, mois, jour, durée et composants temporels.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360920" y="40690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9208" y="4087368"/>
            <a:ext cx="45720" cy="101498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4197096"/>
            <a:ext cx="3264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errors="coerce"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4498848"/>
            <a:ext cx="3264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 les valeurs invalides en NaN / NaT.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9834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conversions explicites évitent des analyses silencieusement fausses.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1704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56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Visualiser et mesurer les performances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24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1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analyse utile doit être lisible, reproductible et suffisamment rapide.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923544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886200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691640" y="3886200"/>
            <a:ext cx="1399032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3886200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choix du graphique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200400" y="3886200"/>
            <a:ext cx="685800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3886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timeit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995928" y="3886200"/>
            <a:ext cx="1101852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95928" y="3886200"/>
            <a:ext cx="11018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vectorisation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64373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1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 • Du script Python à l’analyse de données</a:t>
            </a:r>
            <a:endParaRPr lang="en-US" sz="6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 : transformer une mesure en message visuel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graphique doit répondre à une question précise.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800600" cy="3520440"/>
          </a:xfrm>
          <a:prstGeom prst="roundRect">
            <a:avLst>
              <a:gd name="adj" fmla="val 1558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444752"/>
            <a:ext cx="44714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matplotlib.pyplot as plt</a:t>
            </a:r>
            <a:endParaRPr lang="en-US" sz="1170" dirty="0"/>
          </a:p>
          <a:p>
            <a:pPr algn="l" indent="0" marL="0">
              <a:buNone/>
            </a:pP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country_revenue.plot(kind='bar')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plt.title('CA par pays')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plt.xlabel('Pays')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plt.ylabel('CA (€)')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plt.tight_layout()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plt.show()</a:t>
            </a:r>
            <a:endParaRPr lang="en-US" sz="1170" dirty="0"/>
          </a:p>
        </p:txBody>
      </p:sp>
      <p:sp>
        <p:nvSpPr>
          <p:cNvPr id="6" name="Shape 4"/>
          <p:cNvSpPr/>
          <p:nvPr/>
        </p:nvSpPr>
        <p:spPr>
          <a:xfrm>
            <a:off x="6583680" y="4617720"/>
            <a:ext cx="3931920" cy="0"/>
          </a:xfrm>
          <a:prstGeom prst="line">
            <a:avLst/>
          </a:prstGeom>
          <a:noFill/>
          <a:ln w="12700">
            <a:solidFill>
              <a:srgbClr val="9C96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3369564"/>
            <a:ext cx="512064" cy="1248156"/>
          </a:xfrm>
          <a:prstGeom prst="rect">
            <a:avLst/>
          </a:prstGeom>
          <a:solidFill>
            <a:srgbClr val="C9B0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93992" y="4681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0" y="2418588"/>
            <a:ext cx="512064" cy="2199132"/>
          </a:xfrm>
          <a:prstGeom prst="rect">
            <a:avLst/>
          </a:prstGeom>
          <a:solidFill>
            <a:srgbClr val="C9B0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62672" y="4681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41080" y="2953512"/>
            <a:ext cx="512064" cy="1664208"/>
          </a:xfrm>
          <a:prstGeom prst="rect">
            <a:avLst/>
          </a:prstGeom>
          <a:solidFill>
            <a:srgbClr val="C9B0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31352" y="4681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09760" y="1943100"/>
            <a:ext cx="512064" cy="2674620"/>
          </a:xfrm>
          <a:prstGeom prst="rect">
            <a:avLst/>
          </a:prstGeom>
          <a:solidFill>
            <a:srgbClr val="7A2C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00032" y="4681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 par pays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5166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Titre + axes + unité + lisibilité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Choisir le graphique selon la question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type de graphique découle de la relation que l’on veut montrer.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344168"/>
            <a:ext cx="45720" cy="138074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45389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1755648"/>
            <a:ext cx="4636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Barres — Catégories entre elles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344168"/>
            <a:ext cx="45720" cy="1380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145389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Évolution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1755648"/>
            <a:ext cx="4636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Courbe — Valeur au cours du temps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85800" y="31546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3172968"/>
            <a:ext cx="45720" cy="138074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328269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3584448"/>
            <a:ext cx="4636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Histogramme — Répartition d’une variable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72200" y="31546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3172968"/>
            <a:ext cx="45720" cy="138074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6792" y="3282696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584448"/>
            <a:ext cx="46360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Nuage de points — Lien entre deux variables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212080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 de tracer : quelle question métier cherche-t-on à répondre 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Mesurer avant d’optimiser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performance se mesure ; elle ne se devine pas.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536192"/>
            <a:ext cx="47914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timeit import timeit</a:t>
            </a:r>
            <a:endParaRPr lang="en-US" sz="1160" dirty="0"/>
          </a:p>
          <a:p>
            <a:pPr algn="l" indent="0" marL="0">
              <a:buNone/>
            </a:pP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python_time = timeit(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'sum([x*x for x in range(1000)])',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number=1000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160" dirty="0"/>
          </a:p>
        </p:txBody>
      </p:sp>
      <p:sp>
        <p:nvSpPr>
          <p:cNvPr id="6" name="Shape 4"/>
          <p:cNvSpPr/>
          <p:nvPr/>
        </p:nvSpPr>
        <p:spPr>
          <a:xfrm>
            <a:off x="6446520" y="1280160"/>
            <a:ext cx="4572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64808" y="1298448"/>
            <a:ext cx="45720" cy="804672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11112" y="1408176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Boucle Python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170992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Flexible, mais coûteuse pour de gros volumes.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446520" y="2395728"/>
            <a:ext cx="4572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2414016"/>
            <a:ext cx="45720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11112" y="2523744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apply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2825496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Pratique, mais peut rester lent.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446520" y="3511296"/>
            <a:ext cx="4572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3529584"/>
            <a:ext cx="45720" cy="804672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11112" y="3639312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Vectorisation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11112" y="394106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Souvent la solution à privilégier.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8920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Identifier le goulot → 2. Mesurer → 3. Optimiser → 4. Mesurer à nouveau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les données deviennent grandes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traitement peut échouer non par manque de logique, mais par manque de mémoire ou de temps.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344168"/>
            <a:ext cx="45720" cy="138074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453896"/>
            <a:ext cx="4681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tout 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1755648"/>
            <a:ext cx="46817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CSV de 20 Go ne tient peut-être pas en RAM.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344168"/>
            <a:ext cx="45720" cy="1380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1453896"/>
            <a:ext cx="4681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Filtrer tôt ?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1755648"/>
            <a:ext cx="46817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Réduire les colonnes et lignes le plus tôt possible.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3218688"/>
            <a:ext cx="45720" cy="1380744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3328416"/>
            <a:ext cx="4681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Chunker 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3630168"/>
            <a:ext cx="46817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Traiter le fichier par blocs avec chunksize.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3218688"/>
            <a:ext cx="45720" cy="1380744"/>
          </a:xfrm>
          <a:prstGeom prst="rect">
            <a:avLst/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6792" y="3328416"/>
            <a:ext cx="4681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Vectoriser 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630168"/>
            <a:ext cx="46817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les boucles et apply inutiles.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2011680" y="48920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76272" y="5010912"/>
            <a:ext cx="78089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chunk in pd.read_csv('large.csv', chunksize=100_000):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process(chunk)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1704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56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Construire un pipeline Data complet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24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C1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Relier toutes les notions dans une chaîne de traitement reproductible.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745236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886200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513332" y="3886200"/>
            <a:ext cx="804672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13332" y="388620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427732" y="3886200"/>
            <a:ext cx="65836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7732" y="3886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195828" y="3886200"/>
            <a:ext cx="864108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95828" y="3886200"/>
            <a:ext cx="8641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169664" y="3886200"/>
            <a:ext cx="745236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9664" y="3886200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024628" y="3886200"/>
            <a:ext cx="685800" cy="347472"/>
          </a:xfrm>
          <a:prstGeom prst="roundRect">
            <a:avLst>
              <a:gd name="adj" fmla="val 23684"/>
            </a:avLst>
          </a:prstGeom>
          <a:solidFill>
            <a:srgbClr val="342A3A"/>
          </a:solidFill>
          <a:ln w="10160">
            <a:solidFill>
              <a:srgbClr val="4A3A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4628" y="3886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9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64373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1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 • Du script Python à l’analyse de données</a:t>
            </a:r>
            <a:endParaRPr lang="en-US" sz="6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: de la donnée brute au résultat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étape possède une responsabilité claire et peut être contrôlée indépendamment.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02996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0299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039112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2359152"/>
            <a:ext cx="210312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04872" y="18745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202996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20299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2039112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05072" y="2359152"/>
            <a:ext cx="210312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06824" y="18745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8264" y="202996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98264" y="20299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2039112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07024" y="2359152"/>
            <a:ext cx="210312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08776" y="18745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202996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0216" y="20299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22" name="Text 20"/>
          <p:cNvSpPr txBox="1"/>
          <p:nvPr/>
        </p:nvSpPr>
        <p:spPr>
          <a:xfrm>
            <a:off x="6711696" y="2039112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08976" y="2359152"/>
            <a:ext cx="210312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10728" y="18745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2168" y="202996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02168" y="20299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8613648" y="2039112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10928" y="2359152"/>
            <a:ext cx="210312" cy="0"/>
          </a:xfrm>
          <a:prstGeom prst="line">
            <a:avLst/>
          </a:prstGeom>
          <a:noFill/>
          <a:ln w="15240">
            <a:solidFill>
              <a:srgbClr val="6F6A7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12680" y="18745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0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04120" y="202996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D94C4C"/>
          </a:solidFill>
          <a:ln w="12700">
            <a:solidFill>
              <a:srgbClr val="D94C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04120" y="20299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2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0" y="2039112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• JSON • API • fichiers texte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Sorties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64592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propre • KPI • graphiques • rapport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37033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211C25"/>
          </a:solidFill>
          <a:ln w="12700">
            <a:solidFill>
              <a:srgbClr val="211C2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79592" y="3822192"/>
            <a:ext cx="497433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run_pipeline():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raw = extract()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valid = validate(raw)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clean = transform(valid)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report = analyze(clean)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F5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export(report)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clair et reproductible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95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notebook n’est pas seulement un brouillon : il doit raconter et reproduire l’analyse.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4416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4416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métier et source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368296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6829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58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258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Bibliothèques et configuration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392424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39242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826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Chargement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et premier contrôle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4416552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E28A18"/>
          </a:solidFill>
          <a:ln w="12700">
            <a:solidFill>
              <a:srgbClr val="E28A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41655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06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Nettoyage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4306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Décisions explicites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34416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134416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2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et transformations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368296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D94C4C"/>
          </a:solidFill>
          <a:ln w="12700">
            <a:solidFill>
              <a:srgbClr val="D94C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236829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2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2258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2258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Graphiques utiles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392424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339242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2826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 et limites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5321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bon notebook peut être relancé de haut en bas sans intervention manuelle.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7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retenir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36245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9E3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code propre réduit le coût des changements.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777240" y="2039112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391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8424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9E3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Modules, fonctions et fichiers donnent une structure au projet.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77240" y="2660904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609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6060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9E3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Valider les données et gérer les erreurs rend le traitement robuste.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77240" y="3282696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826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2278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9E3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 apporte la vectorisation ; Pandas structure l’analyse tabulaire.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77240" y="390448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044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2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84962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9E3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Nettoyer, transformer, agréger et fusionner sont les opérations centrales.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77240" y="452628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5262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2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47141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9E3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visualisation répond à une question ; une optimisation commence par une mesure.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77240" y="5148072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1480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2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09320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E9E3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pipeline rend l’analyse reproductible et réutilisable.</a:t>
            </a:r>
            <a:endParaRPr lang="en-US" sz="112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9893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BB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Prochaine étape : approfondir Python pour écrire du code plus robuste, testable et professionnel.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F1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2CB5"/>
          </a:solidFill>
          <a:ln w="12700">
            <a:solidFill>
              <a:srgbClr val="7A2C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097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2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OUVERTURE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00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après 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2677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0C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les données et les projets grossissent, de nouvelles problématiques apparaissent.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324612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342A3A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32461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Typing avancé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93008" y="324612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342A3A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32461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Dataclasses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324612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342A3A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32461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Générateurs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979408" y="324612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342A3A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9408" y="32461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Décorateurs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416052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342A3A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1605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93008" y="416052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342A3A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93008" y="41605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416052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342A3A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6208" y="41605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79408" y="416052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342A3A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79408" y="41605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Environnements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897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3 — Écrire du Python robuste, performant et professionnel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NexaCourse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Renforcement Python - Partie 2 - Du script à l’analyse de données</dc:title>
  <dc:subject>Renforcement Python - Partie 2</dc:subject>
  <dc:creator>OpenAI</dc:creator>
  <cp:lastModifiedBy>OpenAI</cp:lastModifiedBy>
  <cp:revision>1</cp:revision>
  <dcterms:created xsi:type="dcterms:W3CDTF">2026-10-05T14:44:58Z</dcterms:created>
  <dcterms:modified xsi:type="dcterms:W3CDTF">2026-10-05T14:44:58Z</dcterms:modified>
</cp:coreProperties>
</file>