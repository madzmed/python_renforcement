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RENFORCEMENT PYTHON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851392" y="647395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1 — FONDAMENTAUX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37160"/>
            <a:ext cx="3657600" cy="3657600"/>
          </a:xfrm>
          <a:prstGeom prst="ellipse">
            <a:avLst/>
          </a:prstGeom>
          <a:solidFill>
            <a:srgbClr val="2B2234"/>
          </a:solidFill>
          <a:ln w="12700">
            <a:solidFill>
              <a:srgbClr val="2B22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3886200"/>
            <a:ext cx="2743200" cy="2743200"/>
          </a:xfrm>
          <a:prstGeom prst="ellipse">
            <a:avLst/>
          </a:prstGeom>
          <a:solidFill>
            <a:srgbClr val="352641"/>
          </a:solidFill>
          <a:ln w="12700">
            <a:solidFill>
              <a:srgbClr val="352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RENFORCEMENT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1D9"/>
                </a:solidFill>
              </a:rPr>
              <a:t>Partie 1 — Fondamentaux du langage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93A7"/>
                </a:solidFill>
              </a:rPr>
              <a:t>Des types de données à la programmation orientée objet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A46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6954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6EE5"/>
                </a:solidFill>
              </a:rPr>
              <a:t>Variables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21408" y="46177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A46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4695444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6EE5"/>
                </a:solidFill>
              </a:rPr>
              <a:t>Structures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11880" y="46177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A46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46954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6EE5"/>
                </a:solidFill>
              </a:rPr>
              <a:t>Contrôle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10912" y="46177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A46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46954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6EE5"/>
                </a:solidFill>
              </a:rPr>
              <a:t>Fonctions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9088" y="46177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A46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695444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6EE5"/>
                </a:solidFill>
              </a:rPr>
              <a:t>OOP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59618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758B"/>
                </a:solidFill>
              </a:rPr>
              <a:t>Mastère 1 — Data &amp; Intelligence Artificielle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VUE D’ENSEMBLE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de cette première partie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Construire des bases solides avant de travailler sur la qualité, la structuration et la donnée.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34930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737360"/>
            <a:ext cx="82296" cy="117957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801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Comprendre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2249424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Savoir ce que Python manipule : valeurs, types, objets et références.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2544" y="1572768"/>
            <a:ext cx="34930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1737360"/>
            <a:ext cx="82296" cy="117957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801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Contrôler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6592" y="2249424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Exprimer une logique avec des conditions, des boucles et des compréhensions.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9288" y="1572768"/>
            <a:ext cx="34930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737360"/>
            <a:ext cx="82296" cy="117957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1801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Structurer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3336" y="2249424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Créer des fonctions, puis organiser des données et comportements avec des objets.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625"/>
                </a:solidFill>
              </a:rPr>
              <a:t>Progression du cours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434340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432"/>
                </a:solidFill>
              </a:rPr>
              <a:t>Valeurs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03704" y="4654296"/>
            <a:ext cx="246888" cy="0"/>
          </a:xfrm>
          <a:prstGeom prst="line">
            <a:avLst/>
          </a:prstGeom>
          <a:noFill/>
          <a:ln w="25400">
            <a:solidFill>
              <a:srgbClr val="DED7E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41448" y="434340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432"/>
                </a:solidFill>
              </a:rPr>
              <a:t>Structures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67912" y="4654296"/>
            <a:ext cx="246888" cy="0"/>
          </a:xfrm>
          <a:prstGeom prst="line">
            <a:avLst/>
          </a:prstGeom>
          <a:noFill/>
          <a:ln w="25400">
            <a:solidFill>
              <a:srgbClr val="DED7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05656" y="434340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8808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432"/>
                </a:solidFill>
              </a:rPr>
              <a:t>Indexation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4654296"/>
            <a:ext cx="246888" cy="0"/>
          </a:xfrm>
          <a:prstGeom prst="line">
            <a:avLst/>
          </a:prstGeom>
          <a:noFill/>
          <a:ln w="25400">
            <a:solidFill>
              <a:srgbClr val="DED7E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9864" y="434340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43016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432"/>
                </a:solidFill>
              </a:rPr>
              <a:t>Logique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96328" y="4654296"/>
            <a:ext cx="246888" cy="0"/>
          </a:xfrm>
          <a:prstGeom prst="line">
            <a:avLst/>
          </a:prstGeom>
          <a:noFill/>
          <a:ln w="25400">
            <a:solidFill>
              <a:srgbClr val="DED7E7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34072" y="434340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432"/>
                </a:solidFill>
              </a:rPr>
              <a:t>Boucles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60536" y="4654296"/>
            <a:ext cx="246888" cy="0"/>
          </a:xfrm>
          <a:prstGeom prst="line">
            <a:avLst/>
          </a:prstGeom>
          <a:noFill/>
          <a:ln w="25400">
            <a:solidFill>
              <a:srgbClr val="DED7E7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98280" y="434340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143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432"/>
                </a:solidFill>
              </a:rPr>
              <a:t>Fonctions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524744" y="4654296"/>
            <a:ext cx="246888" cy="0"/>
          </a:xfrm>
          <a:prstGeom prst="line">
            <a:avLst/>
          </a:prstGeom>
          <a:noFill/>
          <a:ln w="25400">
            <a:solidFill>
              <a:srgbClr val="DED7E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762488" y="434340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35640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83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D5CC8"/>
                </a:solidFill>
              </a:rPr>
              <a:t>01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Valeurs, variables et types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784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CBDD"/>
                </a:solidFill>
              </a:rPr>
              <a:t>Avant d’écrire des algorithmes, il faut comprendre comment Python représente l’information.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1202436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986784"/>
            <a:ext cx="982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variables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25396" y="3886200"/>
            <a:ext cx="1357884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5124" y="3986784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affectation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47872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types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64024" y="38862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3986784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conversion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5961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1A5"/>
                </a:solidFill>
              </a:rPr>
              <a:t>Partie 1 — Renforcement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VARIABLES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et affectation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variable est un nom qui référence une valeur — l’opérateur = réalise l’affectation.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3898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Affectations simples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64592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453542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 = 'Alice'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 = 24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 = 16.5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is_active = True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1691640"/>
            <a:ext cx="52578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2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nom de variable sert à retrouver une valeur dans le programme.</a:t>
            </a:r>
            <a:endParaRPr lang="en-US" sz="1520" dirty="0"/>
          </a:p>
          <a:p>
            <a:pPr marL="228600" indent="-228600">
              <a:buSzPct val="100000"/>
              <a:buChar char="•"/>
            </a:pPr>
            <a:r>
              <a:rPr lang="en-US" sz="152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détermine automatiquement le type à partir de la valeur affectée.</a:t>
            </a:r>
            <a:endParaRPr lang="en-US" sz="1520" dirty="0"/>
          </a:p>
          <a:p>
            <a:pPr marL="228600" indent="-228600">
              <a:buSzPct val="100000"/>
              <a:buChar char="•"/>
            </a:pPr>
            <a:r>
              <a:rPr lang="en-US" sz="152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même variable peut être réaffectée au cours de l’exécution.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6144768" y="408736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Réaffectation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44768" y="4343400"/>
            <a:ext cx="4983480" cy="1115568"/>
          </a:xfrm>
          <a:prstGeom prst="roundRect">
            <a:avLst>
              <a:gd name="adj" fmla="val 4918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4507992"/>
            <a:ext cx="4581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count = 1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count = count + 1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count vaut maintenant 2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VARIABLES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Bien nommer ses variables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nom réduit la quantité d’explications nécessaires dans le code.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340156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645920"/>
            <a:ext cx="82296" cy="149961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09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Préférer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157984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customer_name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invoice_total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is_valid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items_count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81328"/>
            <a:ext cx="340156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645920"/>
            <a:ext cx="82296" cy="1499616"/>
          </a:xfrm>
          <a:prstGeom prst="roundRect">
            <a:avLst>
              <a:gd name="adj" fmla="val 44444"/>
            </a:avLst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709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Éviter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2157984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data2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thing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tmp — sauf contexte très local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81328"/>
            <a:ext cx="340156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645920"/>
            <a:ext cx="82296" cy="149961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709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Convention Python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0768" y="2157984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snake_case pour les variables et fonctions.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Pas d’espace, pas de tiret, pas de mot réservé.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1625"/>
                </a:solidFill>
              </a:rPr>
              <a:t>Le nom devrait révéler l’intention.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96596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F6878"/>
                </a:solidFill>
              </a:rPr>
              <a:t>Plus le code grandit, plus la lisibilité des noms devient importante.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principaux types de données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type définit la nature d’une valeur et les opérations que l’on peut réaliser dessus.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73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5D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62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6733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78"/>
                </a:solidFill>
              </a:rPr>
              <a:t>Entier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42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5D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float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62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3.14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542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78"/>
                </a:solidFill>
              </a:rPr>
              <a:t>Nombre décimal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10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5B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62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'Python'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34107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78"/>
                </a:solidFill>
              </a:rPr>
              <a:t>Texte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114800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875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bool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62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4279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78"/>
                </a:solidFill>
              </a:rPr>
              <a:t>Vrai / Faux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983480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148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6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NoneType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88920" y="5148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62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51480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78"/>
                </a:solidFill>
              </a:rPr>
              <a:t>Absence de valeur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numériques : int et float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distingue les nombres entiers et les nombres décimaux.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25272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Exemple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508760"/>
            <a:ext cx="5074920" cy="2788920"/>
          </a:xfrm>
          <a:prstGeom prst="roundRect">
            <a:avLst>
              <a:gd name="adj" fmla="val 1967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73352"/>
            <a:ext cx="467258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quantity = 12        # int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price = 19.99        # float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= quantity * price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average = total / quantity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673352"/>
            <a:ext cx="82296" cy="969264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737360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6248" y="2185416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Nombres entiers : -3, 0, 42, 1000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3136392"/>
            <a:ext cx="82296" cy="969264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3200400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float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6248" y="3648456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Nombres décimaux : 3.14, -0.5, 10.0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4434840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4599432"/>
            <a:ext cx="82296" cy="969264"/>
          </a:xfrm>
          <a:prstGeom prst="roundRect">
            <a:avLst>
              <a:gd name="adj" fmla="val 44444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4663440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Attention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6248" y="5111496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La division / produit toujours un float. La division entière utilise //.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Chaînes de caractères : str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chaîne est une séquence ordonnée de caractères.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Création et concaténation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5166360" cy="2606040"/>
          </a:xfrm>
          <a:prstGeom prst="roundRect">
            <a:avLst>
              <a:gd name="adj" fmla="val 2105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00784"/>
            <a:ext cx="476402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first_name = 'Ada'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last_name = "Lovelace"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full_name = first_name + ' ' + last_name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message = f'Bonjour {full_name}'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99632" y="1536192"/>
            <a:ext cx="49834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4224" y="1700784"/>
            <a:ext cx="82296" cy="877824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764792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Immuables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21284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Une chaîne ne se modifie pas caractère par caractère : une transformation crée une nouvelle chaîne.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2907792"/>
            <a:ext cx="49834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3072384"/>
            <a:ext cx="82296" cy="877824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136392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Méthodes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58444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lower(), upper(), strip(), replace(), split()...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9632" y="4279392"/>
            <a:ext cx="49834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4443984"/>
            <a:ext cx="82296" cy="877824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507992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f-strings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95604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La manière recommandée d’insérer des valeurs dans du texte.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Booléens et absence de valeur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 exprime un état logique ; None représente l’absence explicite de valeur.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34416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Valeurs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4800600" cy="2057400"/>
          </a:xfrm>
          <a:prstGeom prst="roundRect">
            <a:avLst>
              <a:gd name="adj" fmla="val 2667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764792"/>
            <a:ext cx="439826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is_admin =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is_deleted = False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selected_user = None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1572768"/>
            <a:ext cx="52578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08192" y="1737360"/>
            <a:ext cx="82296" cy="932688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80136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bool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7648" y="2249424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Seulement deux valeurs : True ou False. On les obtient souvent après une comparaison.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3063240"/>
            <a:ext cx="52578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3227832"/>
            <a:ext cx="82296" cy="932688"/>
          </a:xfrm>
          <a:prstGeom prst="roundRect">
            <a:avLst>
              <a:gd name="adj" fmla="val 44444"/>
            </a:avLst>
          </a:prstGeom>
          <a:solidFill>
            <a:srgbClr val="6F6878"/>
          </a:solidFill>
          <a:ln w="12700">
            <a:solidFill>
              <a:srgbClr val="6F6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329184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None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27648" y="3739896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Utilisé pour indiquer qu’une donnée n’existe pas encore, n’a pas été trouvée ou n’est pas applicable.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17320" y="40873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Expressions fréquentes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17320" y="4343400"/>
            <a:ext cx="4389120" cy="1051560"/>
          </a:xfrm>
          <a:prstGeom prst="roundRect">
            <a:avLst>
              <a:gd name="adj" fmla="val 5217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8488" y="4507992"/>
            <a:ext cx="3986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 &gt;= 18          # -&gt; True / False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 is None       # test d'absence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Typage dynamique et conversion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type appartient à la valeur ; une variable peut référencer des valeurs de types différents.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2252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Conversion explicite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81328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45920"/>
            <a:ext cx="471830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42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'quarante-deux'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text_age = '24'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 = int(text_age)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price = float('19.90')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label = str(123)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200" y="1481328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645920"/>
            <a:ext cx="82296" cy="969264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70992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type()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6248" y="215798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Permet d’inspecter le type d’une valeur.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944368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3108960"/>
            <a:ext cx="82296" cy="969264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317296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int(), float(), str(), bool()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6248" y="362102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Convertissent une valeur lorsque la conversion est possible.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4407408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4572000"/>
            <a:ext cx="82296" cy="969264"/>
          </a:xfrm>
          <a:prstGeom prst="roundRect">
            <a:avLst>
              <a:gd name="adj" fmla="val 44444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463600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Risque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6248" y="508406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 changement de type inattendu peut provoquer des erreurs plus tard dans le programme.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83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D5CC8"/>
                </a:solidFill>
              </a:rPr>
              <a:t>02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Structures de données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784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CBDD"/>
                </a:solidFill>
              </a:rPr>
              <a:t>Regrouper plusieurs valeurs permet de représenter des collections et des informations plus riches.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list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tuple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90672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dict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06824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set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5961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1A5"/>
                </a:solidFill>
              </a:rPr>
              <a:t>Partie 1 — Renforcement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STRUCTURES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Choisir la bonne structure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structure répond à un besoin différent : ordre, unicité, clé/valeur ou immutabilité.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325880" cy="502920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77440" y="1572768"/>
            <a:ext cx="1737360" cy="502920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73736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Ordre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572768"/>
            <a:ext cx="1737360" cy="502920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3736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Doublons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1572768"/>
            <a:ext cx="1600200" cy="502920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173736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Modifiable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1572768"/>
            <a:ext cx="2514600" cy="502920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1392" y="1737360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2075688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3317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E35B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2075688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2331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Ordonnée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075688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2331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2075688"/>
            <a:ext cx="1600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233172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78240" y="2075688"/>
            <a:ext cx="2514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51392" y="2331720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Séquence modifiable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2825496"/>
            <a:ext cx="132588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08152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E35B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tuple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377440" y="2825496"/>
            <a:ext cx="173736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308152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Ordonnée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2825496"/>
            <a:ext cx="173736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08152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20840" y="2825496"/>
            <a:ext cx="160020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308152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78240" y="2825496"/>
            <a:ext cx="251460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51392" y="308152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Séquence fixe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7240" y="3575304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3831336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E35B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dict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377440" y="3575304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38313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3575304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8313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Clés uniques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20840" y="3575304"/>
            <a:ext cx="1600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93992" y="383133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778240" y="3575304"/>
            <a:ext cx="2514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51392" y="3831336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 clé → valeur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77240" y="4325112"/>
            <a:ext cx="132588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458114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E35B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377440" y="4325112"/>
            <a:ext cx="173736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45811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indexée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0" y="4325112"/>
            <a:ext cx="173736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5811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20840" y="4325112"/>
            <a:ext cx="160020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93992" y="458114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778240" y="4325112"/>
            <a:ext cx="2514600" cy="749808"/>
          </a:xfrm>
          <a:prstGeom prst="rect">
            <a:avLst/>
          </a:prstGeom>
          <a:solidFill>
            <a:srgbClr val="F7F3FA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51392" y="458114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Valeurs uniques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LIST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Listes : collections ordonnées et modifiables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liste est la structure la plus courante pour stocker une séquence de valeurs.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225296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Manipulations courantes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81328"/>
            <a:ext cx="5257800" cy="3063240"/>
          </a:xfrm>
          <a:prstGeom prst="roundRect">
            <a:avLst>
              <a:gd name="adj" fmla="val 1791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45920"/>
            <a:ext cx="485546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 = ['red', 'green', 'blue']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colors.append('purple')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colors.remove('green')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colors[0] = 'orange'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len(colors)  # nombre d'éléments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63640" y="1600200"/>
            <a:ext cx="48006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Conserve l’ordre des éléments.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 des doublons.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contenir des valeurs de types différents.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 modifiable : ajout, suppression, remplacement.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TUPLE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Tuples : séquences ordonnées et immuables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tuple est adapté aux ensembles de valeurs qui ne doivent pas changer.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31673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Exemple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4754880" cy="2240280"/>
          </a:xfrm>
          <a:prstGeom prst="roundRect">
            <a:avLst>
              <a:gd name="adj" fmla="val 2449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737360"/>
            <a:ext cx="4352544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point = (10, 20)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rgb = (255, 128, 0)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x, y = point     # unpacking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97880" y="1572768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2472" y="1737360"/>
            <a:ext cx="82296" cy="95097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80136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Immuable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81928" y="2249424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Après création, on ne remplace pas un élément du tuple.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306324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2472" y="3227832"/>
            <a:ext cx="82296" cy="95097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329184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Usage typique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1928" y="3739896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Coordonnées, valeurs fixes, retours multiples de fonctions.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4553712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2472" y="4718304"/>
            <a:ext cx="82296" cy="67665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4782312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Syntaxe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5230368"/>
            <a:ext cx="4690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Les parenthèses rendent l’intention explicite ; la virgule construit le tuple.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DICT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Dictionnaires : associer une clé à une valeur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dictionnaire représente naturellement un objet métier, une configuration ou un enregistrement.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Exemple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44752"/>
            <a:ext cx="5257800" cy="3657600"/>
          </a:xfrm>
          <a:prstGeom prst="roundRect">
            <a:avLst>
              <a:gd name="adj" fmla="val 1500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09344"/>
            <a:ext cx="4855464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 =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'name': 'Alice',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'age': 24,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'role': 'admin'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user['name']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user['age'] = 25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user.get('email')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91072" y="1609344"/>
            <a:ext cx="4681728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8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clé est unique.</a:t>
            </a:r>
            <a:endParaRPr lang="en-US" sz="1480" dirty="0"/>
          </a:p>
          <a:p>
            <a:pPr marL="228600" indent="-228600">
              <a:buSzPct val="100000"/>
              <a:buChar char="•"/>
            </a:pPr>
            <a:r>
              <a:rPr lang="en-US" sz="148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L’accès se fait par la clé et non par une position.</a:t>
            </a:r>
            <a:endParaRPr lang="en-US" sz="1480" dirty="0"/>
          </a:p>
          <a:p>
            <a:pPr marL="228600" indent="-228600">
              <a:buSzPct val="100000"/>
              <a:buChar char="•"/>
            </a:pPr>
            <a:r>
              <a:rPr lang="en-US" sz="148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valeurs peuvent être de n’importe quel type.</a:t>
            </a:r>
            <a:endParaRPr lang="en-US" sz="1480" dirty="0"/>
          </a:p>
          <a:p>
            <a:pPr marL="228600" indent="-228600">
              <a:buSzPct val="100000"/>
              <a:buChar char="•"/>
            </a:pPr>
            <a:r>
              <a:rPr lang="en-US" sz="1480" dirty="0">
                <a:solidFill>
                  <a:srgbClr val="2B24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Très fréquent pour manipuler des données structurées.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680960" y="479145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6E3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4869180"/>
            <a:ext cx="1865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clé → valeur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Sets : ensembles de valeurs uniques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set est utile pour éliminer les doublons et réaliser des opérations ensemblistes.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25272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Unicité et opérations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508760"/>
            <a:ext cx="5074920" cy="3108960"/>
          </a:xfrm>
          <a:prstGeom prst="roundRect">
            <a:avLst>
              <a:gd name="adj" fmla="val 1765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73352"/>
            <a:ext cx="467258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tags = {'python', 'data', 'python'}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{'python', 'data'}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{'python', 'sql'}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{'python', 'java'}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&amp; b   # intersection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| b   # union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44768" y="1508760"/>
            <a:ext cx="501091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73352"/>
            <a:ext cx="82296" cy="90525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737360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Unicité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8816" y="2185416"/>
            <a:ext cx="4443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 élément identique n’apparaît qu’une seule fois.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2907792"/>
            <a:ext cx="501091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072384"/>
            <a:ext cx="82296" cy="905256"/>
          </a:xfrm>
          <a:prstGeom prst="roundRect">
            <a:avLst>
              <a:gd name="adj" fmla="val 44444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136392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Pas d’index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3584448"/>
            <a:ext cx="4443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 set n’est pas une séquence indexée.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44768" y="4306824"/>
            <a:ext cx="501091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471416"/>
            <a:ext cx="82296" cy="90525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4535424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Ensembles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28816" y="4983480"/>
            <a:ext cx="4443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Union, intersection, différence et tests d’appartenance.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83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D5CC8"/>
                </a:solidFill>
              </a:rPr>
              <a:t>03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Accéder aux données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784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CBDD"/>
                </a:solidFill>
              </a:rPr>
              <a:t>Indexation et slicing permettent d’extraire précisément une partie d’une séquence.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index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slice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90672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bornes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06824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pas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5961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1A5"/>
                </a:solidFill>
              </a:rPr>
              <a:t>Partie 1 — Renforcement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INDEXATION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Indexation : une position commence à 0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chaînes, listes et tuples sont des séquences : chaque élément possède une position.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1EAF9"/>
          </a:solidFill>
          <a:ln w="25400">
            <a:solidFill>
              <a:srgbClr val="6E3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1625"/>
                </a:solidFill>
              </a:rPr>
              <a:t>P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2944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35B6"/>
                </a:solidFill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5270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78"/>
                </a:solidFill>
              </a:rPr>
              <a:t>-6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87452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1625"/>
                </a:solidFill>
              </a:rPr>
              <a:t>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624328" y="2944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35B6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5270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78"/>
                </a:solidFill>
              </a:rPr>
              <a:t>-5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187452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1625"/>
                </a:solidFill>
              </a:rPr>
              <a:t>T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950208" y="2944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35B6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15270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78"/>
                </a:solidFill>
              </a:rPr>
              <a:t>-4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83480" y="187452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1625"/>
                </a:solidFill>
              </a:rPr>
              <a:t>H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276088" y="2944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35B6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5270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78"/>
                </a:solidFill>
              </a:rPr>
              <a:t>-3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187452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1625"/>
                </a:solidFill>
              </a:rPr>
              <a:t>O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601968" y="2944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35B6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15270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78"/>
                </a:solidFill>
              </a:rPr>
              <a:t>-2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5240" y="187452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1625"/>
                </a:solidFill>
              </a:rPr>
              <a:t>N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927848" y="2944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35B6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15270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78"/>
                </a:solidFill>
              </a:rPr>
              <a:t>-1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3630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Accès par position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0120" y="38862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1288" y="4050792"/>
            <a:ext cx="34381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word = 'PYTHON'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word[0]   # 'P'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word[2]   # 'T'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word[-1]  # 'N'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5257800" y="388620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22392" y="4050792"/>
            <a:ext cx="82296" cy="117957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1848" y="4114800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Index négatif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641848" y="4562856"/>
            <a:ext cx="48737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Les indices négatifs comptent depuis la fin : -1 est le dernier élément, -2 l’avant-dernier, etc.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SLICING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Slicing : extraire une sous-séquence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Syntaxe générale : sequence[début:fin:pas]. La borne de fin est exclue.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Exemples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44752"/>
            <a:ext cx="5257800" cy="4023360"/>
          </a:xfrm>
          <a:prstGeom prst="roundRect">
            <a:avLst>
              <a:gd name="adj" fmla="val 1364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09344"/>
            <a:ext cx="485546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 = [10, 20, 30, 40, 50, 60]</a:t>
            </a:r>
            <a:endParaRPr lang="en-US" sz="1530" dirty="0"/>
          </a:p>
          <a:p>
            <a:pPr indent="0" marL="0">
              <a:buNone/>
            </a:pP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values[1:4]   # [20, 30, 40]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values[:3]    # [10, 20, 30]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values[3:]    # [40, 50, 60]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values[::2]   # [10, 30, 50]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values[::-1]  # séquence inversée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6263640" y="1536192"/>
            <a:ext cx="4709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700784"/>
            <a:ext cx="82296" cy="81381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64792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Début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47688" y="2212848"/>
            <a:ext cx="4142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Index du premier élément inclus.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4709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2953512"/>
            <a:ext cx="82296" cy="813816"/>
          </a:xfrm>
          <a:prstGeom prst="roundRect">
            <a:avLst>
              <a:gd name="adj" fmla="val 44444"/>
            </a:avLst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3017520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Fin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47688" y="3465576"/>
            <a:ext cx="4142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Index du premier élément non inclus.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041648"/>
            <a:ext cx="4709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4206240"/>
            <a:ext cx="82296" cy="81381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4270248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Pas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47688" y="4718304"/>
            <a:ext cx="4142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Décalage entre deux éléments sélectionnés.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83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D5CC8"/>
                </a:solidFill>
              </a:rPr>
              <a:t>04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Exprimer une logique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784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CBDD"/>
                </a:solidFill>
              </a:rPr>
              <a:t>Opérateurs, conditions et boucles transforment des données selon des règles.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1357884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986784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comparaison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80844" y="3886200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0572" y="3986784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booléens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0148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9876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if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6300" y="3886200"/>
            <a:ext cx="1357884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6028" y="3986784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for / while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5961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1A5"/>
                </a:solidFill>
              </a:rPr>
              <a:t>Partie 1 — Renforcement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OPÉRATEURS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Opérateurs arithmétiques, de comparaison et logiques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expression combine des valeurs et des opérateurs pour produire un résultat.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645920"/>
            <a:ext cx="82296" cy="154533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09928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Arithmétiques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57984"/>
            <a:ext cx="28620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+   -   *  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//   %   **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81328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645920"/>
            <a:ext cx="82296" cy="154533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709928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Comparaison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2157984"/>
            <a:ext cx="28620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==   !=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&lt;   &lt;=   &gt;   &gt;=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481328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45920"/>
            <a:ext cx="82296" cy="154533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1709928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Logiques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9056" y="2157984"/>
            <a:ext cx="28620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and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not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372160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Expressions booléennes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17320" y="3977640"/>
            <a:ext cx="9326880" cy="1325880"/>
          </a:xfrm>
          <a:prstGeom prst="roundRect">
            <a:avLst>
              <a:gd name="adj" fmla="val 4138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18488" y="4142232"/>
            <a:ext cx="89245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 &gt;= 18 and has_id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role == 'admin' or role == 'manager'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is_deleted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CONDITIONS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Conditions : choisir quel code exécuter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if, elif et else permettent d’adapter le comportement du programme selon une condition.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161288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Structure conditionnelle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5166360" cy="3977640"/>
          </a:xfrm>
          <a:prstGeom prst="roundRect">
            <a:avLst>
              <a:gd name="adj" fmla="val 1379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81912"/>
            <a:ext cx="4764024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 = 14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score &gt;= 16: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level = 'excellent'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elif score &gt;= 10: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level = 'validé'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level = 'à renforcer'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1EAF9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901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35B6"/>
                </a:solidFill>
              </a:rPr>
              <a:t>Condition vraie 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0" y="2350008"/>
            <a:ext cx="0" cy="530352"/>
          </a:xfrm>
          <a:prstGeom prst="line">
            <a:avLst/>
          </a:prstGeom>
          <a:noFill/>
          <a:ln w="25400">
            <a:solidFill>
              <a:srgbClr val="6E35B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37960" y="29260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EAF7EF"/>
          </a:solidFill>
          <a:ln w="12700">
            <a:solidFill>
              <a:srgbClr val="A9D9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8754"/>
                </a:solidFill>
              </a:rPr>
              <a:t>Oui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98754"/>
                </a:solidFill>
              </a:rPr>
              <a:t>bloc if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29260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CEEEE"/>
          </a:solidFill>
          <a:ln w="12700">
            <a:solidFill>
              <a:srgbClr val="E6B6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747"/>
                </a:solidFill>
              </a:rPr>
              <a:t>Non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4747"/>
                </a:solidFill>
              </a:rPr>
              <a:t>bloc suivant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0" y="2743200"/>
            <a:ext cx="-1188720" cy="164592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0" y="2743200"/>
            <a:ext cx="1234440" cy="164592"/>
          </a:xfrm>
          <a:prstGeom prst="line">
            <a:avLst/>
          </a:prstGeom>
          <a:noFill/>
          <a:ln w="25400">
            <a:solidFill>
              <a:srgbClr val="C9474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4652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625"/>
                </a:solidFill>
              </a:rPr>
              <a:t>L’indentation définit les blocs de code en Python.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CONDITIONS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Truthy / Falsy : certaines valeurs se comportent comme des booléens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évalue automatiquement de nombreuses valeurs dans un contexte conditionnel.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04672" y="1508760"/>
            <a:ext cx="48920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673352"/>
            <a:ext cx="82296" cy="1728216"/>
          </a:xfrm>
          <a:prstGeom prst="roundRect">
            <a:avLst>
              <a:gd name="adj" fmla="val 44444"/>
            </a:avLst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73736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Falsy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85416"/>
            <a:ext cx="43251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False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None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0 / 0.0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''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[]  {}  set()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19088" y="1508760"/>
            <a:ext cx="48920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673352"/>
            <a:ext cx="82296" cy="172821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173736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Truthy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03136" y="2185416"/>
            <a:ext cx="43251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La plupart des autres valeurs 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1, -3, 'Python', [1], {'a': 1}...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65960" y="376732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Lecture naturelle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65960" y="4023360"/>
            <a:ext cx="8046720" cy="1417320"/>
          </a:xfrm>
          <a:prstGeom prst="roundRect">
            <a:avLst>
              <a:gd name="adj" fmla="val 3871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4187952"/>
            <a:ext cx="76443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 = []</a:t>
            </a:r>
            <a:endParaRPr lang="en-US" sz="1460" dirty="0"/>
          </a:p>
          <a:p>
            <a:pPr indent="0" marL="0">
              <a:buNone/>
            </a:pP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items: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print('La liste contient des éléments')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else: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print('La liste est vide')</a:t>
            </a:r>
            <a:endParaRPr lang="en-US" sz="14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BOUCLES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Boucle for : parcourir une séquence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répète un bloc pour chaque élément d’un itérable.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225296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Parcours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81328"/>
            <a:ext cx="5257800" cy="3337560"/>
          </a:xfrm>
          <a:prstGeom prst="roundRect">
            <a:avLst>
              <a:gd name="adj" fmla="val 1644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45920"/>
            <a:ext cx="485546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 = ['Ada', 'Grace', 'Linus']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name in names: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print(name.upper())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index, name in enumerate(names):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print(index, name)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4754880" cy="115214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645920"/>
            <a:ext cx="82296" cy="822960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09928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Itérable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47688" y="215798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Liste, tuple, chaîne, dictionnaire, range(), etc.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4754880" cy="115214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2953512"/>
            <a:ext cx="82296" cy="822960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301752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Variable de boucle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47688" y="346557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Reçoit successivement chaque élément de la séquence.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096512"/>
            <a:ext cx="4754880" cy="115214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4261104"/>
            <a:ext cx="82296" cy="822960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4325112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enumerate()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47688" y="477316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Ajoute un compteur automatiquement lors du parcours.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BOUCLES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Boucle while, break et continue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répète un bloc tant qu’une condition reste vraie.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22529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Contrôle de boucle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81328"/>
            <a:ext cx="5074920" cy="3474720"/>
          </a:xfrm>
          <a:prstGeom prst="roundRect">
            <a:avLst>
              <a:gd name="adj" fmla="val 1579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45920"/>
            <a:ext cx="467258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attempts = 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while attempts &lt; 3: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attempts +=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attempts == 2: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continue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attempts == 3: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break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53912" y="1481328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18504" y="1645920"/>
            <a:ext cx="82296" cy="90525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0992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while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57984"/>
            <a:ext cx="4416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À utiliser quand le nombre d’itérations n’est pas connu à l’avance.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53912" y="2871216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3035808"/>
            <a:ext cx="82296" cy="905256"/>
          </a:xfrm>
          <a:prstGeom prst="roundRect">
            <a:avLst>
              <a:gd name="adj" fmla="val 44444"/>
            </a:avLst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099816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break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547872"/>
            <a:ext cx="4416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Interrompt immédiatement la boucle.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4261104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4425696"/>
            <a:ext cx="82296" cy="90525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489704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continue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937760"/>
            <a:ext cx="4416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Passe directement à l’itération suivante.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COMPRÉHENSIONS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 comprehensions : transformer une séquence en une ligne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compréhension construit une nouvelle liste à partir d’un itérable.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161288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Syntaxe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81912"/>
            <a:ext cx="4855464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[1, 2, 3, 4, 5]</a:t>
            </a:r>
            <a:endParaRPr lang="en-US" sz="1510" dirty="0"/>
          </a:p>
          <a:p>
            <a:pPr indent="0" marL="0">
              <a:buNone/>
            </a:pP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squares = [n ** 2 for n in numbers]</a:t>
            </a:r>
            <a:endParaRPr lang="en-US" sz="1510" dirty="0"/>
          </a:p>
          <a:p>
            <a:pPr indent="0" marL="0">
              <a:buNone/>
            </a:pP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even_squares = [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 ** 2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n in numbers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 % 2 == 0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51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4663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645920"/>
            <a:ext cx="82296" cy="95097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09928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Expression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47688" y="215798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Ce que l’on place dans la nouvelle liste.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944368"/>
            <a:ext cx="4663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3108960"/>
            <a:ext cx="82296" cy="95097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3172968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Itération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47688" y="362102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La boucle qui fournit les valeurs.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407408"/>
            <a:ext cx="4663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4572000"/>
            <a:ext cx="82296" cy="95097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4636008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Condition optionnelle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47688" y="508406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Permet de filtrer les éléments retenus.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83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D5CC8"/>
                </a:solidFill>
              </a:rPr>
              <a:t>05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Créer des fonctions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784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CBDD"/>
                </a:solidFill>
              </a:rPr>
              <a:t>Une fonction encapsule une responsabilité : elle reçoit des données, effectue un traitement et peut retourner un résultat.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def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38862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3986784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paramètres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return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35424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scope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5961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1A5"/>
                </a:solidFill>
              </a:rPr>
              <a:t>Partie 1 — Renforcement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FONCTIONS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créer des fonctions 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fonctions évitent la répétition et donnent un nom à une intention.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2527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Définition et appel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508760"/>
            <a:ext cx="5212080" cy="2560320"/>
          </a:xfrm>
          <a:prstGeom prst="roundRect">
            <a:avLst>
              <a:gd name="adj" fmla="val 2143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73352"/>
            <a:ext cx="480974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calculate_total(price, quantity):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price * quantity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= calculate_total(19.90, 3)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36208" y="1508760"/>
            <a:ext cx="482803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673352"/>
            <a:ext cx="82296" cy="81381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737360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Réutiliser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0256" y="2185416"/>
            <a:ext cx="4261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Le même traitement peut être appelé plusieurs fois.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807208"/>
            <a:ext cx="482803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971800"/>
            <a:ext cx="82296" cy="81381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3035808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Lire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0256" y="3483864"/>
            <a:ext cx="4261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 bon nom de fonction décrit l’action réalisée.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4105656"/>
            <a:ext cx="482803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270248"/>
            <a:ext cx="82296" cy="81381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4334256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Tester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0256" y="4782312"/>
            <a:ext cx="4261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Une fonction isolée est plus simple à vérifier qu’un long script.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FONCTIONS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Paramètres, valeurs par défaut et return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L’interface d’une fonction définit ce qu’elle attend et ce qu’elle produit.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16128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Interface d’une fonction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5394960" cy="3474720"/>
          </a:xfrm>
          <a:prstGeom prst="roundRect">
            <a:avLst>
              <a:gd name="adj" fmla="val 1579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81912"/>
            <a:ext cx="499262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greet(name, prefix='Bonjour'):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message = f'{prefix} {name}'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message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 = greet('Ada')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text2 = greet('Ada', prefix='Hello')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46177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627632"/>
            <a:ext cx="82296" cy="76809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9164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Paramètre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9128" y="213969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Nom déclaré dans la définition.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2724912"/>
            <a:ext cx="46177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2889504"/>
            <a:ext cx="82296" cy="76809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2953512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Argument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39128" y="340156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Valeur réellement fournie lors de l’appel.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986784"/>
            <a:ext cx="46177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4151376"/>
            <a:ext cx="82296" cy="76809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4215384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return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39128" y="466344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Termine la fonction et renvoie une valeur au code appelant.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FONCTIONS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Portée des variables : scope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variable créée dans une fonction est locale à cette fonction.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Exemple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27632"/>
            <a:ext cx="471830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tax_rate = 0.20    # globale</a:t>
            </a:r>
            <a:endParaRPr lang="en-US" sz="1570" dirty="0"/>
          </a:p>
          <a:p>
            <a:pPr indent="0" marL="0">
              <a:buNone/>
            </a:pP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add_tax(price):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total = price * (1 + tax_rate)  # locale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total</a:t>
            </a:r>
            <a:endParaRPr lang="en-US" sz="1570" dirty="0"/>
          </a:p>
          <a:p>
            <a:pPr indent="0" marL="0">
              <a:buNone/>
            </a:pP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print(add_tax(100))</a:t>
            </a:r>
            <a:endParaRPr lang="en-US" sz="1570" dirty="0"/>
          </a:p>
        </p:txBody>
      </p:sp>
      <p:sp>
        <p:nvSpPr>
          <p:cNvPr id="9" name="Shape 7"/>
          <p:cNvSpPr/>
          <p:nvPr/>
        </p:nvSpPr>
        <p:spPr>
          <a:xfrm>
            <a:off x="6144768" y="1481328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45920"/>
            <a:ext cx="82296" cy="969264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70992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Locale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8816" y="215798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Créée dans une fonction ; inaccessible directement depuis l’extérieur.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2944368"/>
            <a:ext cx="4983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108960"/>
            <a:ext cx="82296" cy="969264"/>
          </a:xfrm>
          <a:prstGeom prst="roundRect">
            <a:avLst>
              <a:gd name="adj" fmla="val 44444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17296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Globale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362102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Définie au niveau du module ; visible depuis les fonctions, mais à utiliser avec prudence.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44768" y="4407408"/>
            <a:ext cx="49834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572000"/>
            <a:ext cx="82296" cy="841248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463600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Principe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28816" y="5084064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Préférer transmettre les données via les paramètres et return.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83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D5CC8"/>
                </a:solidFill>
              </a:rPr>
              <a:t>06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à la programmation orientée objet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784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CBDD"/>
                </a:solidFill>
              </a:rPr>
              <a:t>Regrouper des données et les comportements qui leur appartiennent dans une même abstraction.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classe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3886200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3986784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instance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63824" y="3886200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3986784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attribut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3986784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méthode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5961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1A5"/>
                </a:solidFill>
              </a:rPr>
              <a:t>Partie 1 — Renforcement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utiliser des objets 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Lorsque plusieurs données décrivent la même entité, une classe peut rendre le modèle plus cohérent.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20700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Avant : données dispersées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63040"/>
            <a:ext cx="4983480" cy="3200400"/>
          </a:xfrm>
          <a:prstGeom prst="roundRect">
            <a:avLst>
              <a:gd name="adj" fmla="val 1714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27632"/>
            <a:ext cx="458114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 = {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'name': 'Alice',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'email': 'alice@example.com',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'active': True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560" dirty="0"/>
          </a:p>
          <a:p>
            <a:pPr indent="0" marL="0">
              <a:buNone/>
            </a:pP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Où placer les comportements associés ?</a:t>
            </a:r>
            <a:endParaRPr lang="en-US" sz="1560" dirty="0"/>
          </a:p>
        </p:txBody>
      </p:sp>
      <p:sp>
        <p:nvSpPr>
          <p:cNvPr id="9" name="Shape 7"/>
          <p:cNvSpPr/>
          <p:nvPr/>
        </p:nvSpPr>
        <p:spPr>
          <a:xfrm>
            <a:off x="5961888" y="2971800"/>
            <a:ext cx="621792" cy="0"/>
          </a:xfrm>
          <a:prstGeom prst="line">
            <a:avLst/>
          </a:prstGeom>
          <a:noFill/>
          <a:ln w="25400">
            <a:solidFill>
              <a:srgbClr val="6E35B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12280" y="12070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Après : données + comportements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12280" y="1463040"/>
            <a:ext cx="4434840" cy="3200400"/>
          </a:xfrm>
          <a:prstGeom prst="roundRect">
            <a:avLst>
              <a:gd name="adj" fmla="val 1714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13448" y="1627632"/>
            <a:ext cx="40325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User: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...</a:t>
            </a:r>
            <a:endParaRPr lang="en-US" sz="1560" dirty="0"/>
          </a:p>
          <a:p>
            <a:pPr indent="0" marL="0">
              <a:buNone/>
            </a:pP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 = User(...)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user.deactivate()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463040" y="52303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625"/>
                </a:solidFill>
              </a:rPr>
              <a:t>L’objet devient une représentation cohérente d’une entité du domaine.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Anatomie d’une classe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classe définit un modèle ; chaque instance possède ses propres données.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0424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Classe, constructeur et méthode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5669280" cy="4526280"/>
          </a:xfrm>
          <a:prstGeom prst="roundRect">
            <a:avLst>
              <a:gd name="adj" fmla="val 1212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63040"/>
            <a:ext cx="5266944" cy="419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User: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__init__(self, name, email):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self.name = name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self.email = email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self.active = True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deactivate(self):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self.active = False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alice = User('Alice', 'alice@example.com')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alice.deactivate()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656832" y="1417320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21424" y="1581912"/>
            <a:ext cx="82296" cy="694944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64592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Classe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09397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Le plan de construction.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56832" y="2596896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21424" y="2761488"/>
            <a:ext cx="82296" cy="694944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82549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Instance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327355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 objet créé à partir de la classe.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56832" y="3776472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21424" y="3941064"/>
            <a:ext cx="82296" cy="694944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00507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Attribut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445312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Une donnée attachée à l’instance.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56832" y="4956048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1424" y="5120640"/>
            <a:ext cx="82296" cy="694944"/>
          </a:xfrm>
          <a:prstGeom prst="roundRect">
            <a:avLst>
              <a:gd name="adj" fmla="val 44444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18464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Méthode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563270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Une fonction attachée à la classe.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: l’instance courante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une méthode d’instance, self permet d’accéder aux données et comportements de l’objet courant.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0972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Exemple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353312"/>
            <a:ext cx="5532120" cy="4343400"/>
          </a:xfrm>
          <a:prstGeom prst="roundRect">
            <a:avLst>
              <a:gd name="adj" fmla="val 1263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17904"/>
            <a:ext cx="5129784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BankAccount: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__init__(self, owner, balance=0):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self.owner = owner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self.balance = balance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deposit(self, amount):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self.balance += amount</a:t>
            </a:r>
            <a:endParaRPr lang="en-US" sz="1480" dirty="0"/>
          </a:p>
          <a:p>
            <a:pPr indent="0" marL="0">
              <a:buNone/>
            </a:pP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account = BankAccount('Ada', 100)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account.deposit(50)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537960" y="1417320"/>
            <a:ext cx="4617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581912"/>
            <a:ext cx="82296" cy="90525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2008" y="164592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self.owner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22008" y="2093976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Attribut propre à l’instance.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2834640"/>
            <a:ext cx="4617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02552" y="2999232"/>
            <a:ext cx="82296" cy="90525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22008" y="306324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self.deposit(...)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22008" y="3511296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Accès aux autres comportements de l’instance.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4251960"/>
            <a:ext cx="4617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4416552"/>
            <a:ext cx="82296" cy="90525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2008" y="448056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État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22008" y="4928616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Chaque objet peut avoir des valeurs différentes pour ses attributs.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Encapsulation et composition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L’OOP est surtout utile pour définir des responsabilités claires entre les objets.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" y="14630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27632"/>
            <a:ext cx="82296" cy="163677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691640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Encapsulation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2139696"/>
            <a:ext cx="4599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Regrouper les données et les opérations qui les concernent. Le reste du programme utilise une interface claire au lieu de manipuler directement tous les détails.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4630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1627632"/>
            <a:ext cx="82296" cy="163677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691640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Composition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56832" y="2139696"/>
            <a:ext cx="4599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Construire un objet à partir d’autres objets. Exemple : une Order contient plusieurs OrderItem plutôt que tout stocker dans une seule structure.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43000" y="406908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1EAF9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4297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35B6"/>
                </a:solidFill>
              </a:rPr>
              <a:t>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983480" y="406908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4297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625"/>
                </a:solidFill>
              </a:rPr>
              <a:t>OrderItem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23960" y="406908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4297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625"/>
                </a:solidFill>
              </a:rPr>
              <a:t>OrderItem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29000" y="4425696"/>
            <a:ext cx="1527048" cy="0"/>
          </a:xfrm>
          <a:prstGeom prst="line">
            <a:avLst/>
          </a:prstGeom>
          <a:noFill/>
          <a:ln w="25400">
            <a:solidFill>
              <a:srgbClr val="6E35B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4425696"/>
            <a:ext cx="1527048" cy="0"/>
          </a:xfrm>
          <a:prstGeom prst="line">
            <a:avLst/>
          </a:prstGeom>
          <a:noFill/>
          <a:ln w="25400">
            <a:solidFill>
              <a:srgbClr val="6E35B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675888" y="3977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878"/>
                </a:solidFill>
              </a:rPr>
              <a:t>« a plusieurs 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83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D5CC8"/>
                </a:solidFill>
              </a:rPr>
              <a:t>07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le code grandit...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784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CBDD"/>
                </a:solidFill>
              </a:rPr>
              <a:t>Un programme peut fonctionner parfaitement tout en devenant difficile à comprendre, modifier et maintenir.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986784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lisibilité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03120" y="3886200"/>
            <a:ext cx="1357884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3986784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duplication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25596" y="3886200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5324" y="3986784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couplage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14900" y="3886200"/>
            <a:ext cx="1357884" cy="384048"/>
          </a:xfrm>
          <a:prstGeom prst="roundRect">
            <a:avLst>
              <a:gd name="adj" fmla="val 19048"/>
            </a:avLst>
          </a:prstGeom>
          <a:solidFill>
            <a:srgbClr val="2A2331"/>
          </a:solidFill>
          <a:ln w="12700">
            <a:solidFill>
              <a:srgbClr val="4A3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4628" y="3986784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E9F5"/>
                </a:solidFill>
              </a:rPr>
              <a:t>maintenance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5961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1A5"/>
                </a:solidFill>
              </a:rPr>
              <a:t>Partie 1 — Renforcement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OUVERTURE JOUR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vrai problème n’est pas seulement de faire fonctionner le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mesure qu’un projet grandit, de nouvelles difficultés apparaissent.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34290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645920"/>
            <a:ext cx="82296" cy="1316736"/>
          </a:xfrm>
          <a:prstGeom prst="roundRect">
            <a:avLst>
              <a:gd name="adj" fmla="val 44444"/>
            </a:avLst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09928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Lisibilité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57984"/>
            <a:ext cx="2862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Variables vagues, fonctions longues, logique imbriquée : comprendre le code prend du temps.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81328"/>
            <a:ext cx="34290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645920"/>
            <a:ext cx="82296" cy="1316736"/>
          </a:xfrm>
          <a:prstGeom prst="roundRect">
            <a:avLst>
              <a:gd name="adj" fmla="val 44444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709928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Duplication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2157984"/>
            <a:ext cx="2862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Le même traitement est recopié à plusieurs endroits et finit par diverger.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481328"/>
            <a:ext cx="34290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45920"/>
            <a:ext cx="82296" cy="1316736"/>
          </a:xfrm>
          <a:prstGeom prst="roundRect">
            <a:avLst>
              <a:gd name="adj" fmla="val 44444"/>
            </a:avLst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1709928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Couplage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9056" y="2157984"/>
            <a:ext cx="2862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Modifier une partie du programme provoque des effets inattendus ailleurs.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0" y="3822192"/>
            <a:ext cx="34290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4912" y="3986784"/>
            <a:ext cx="82296" cy="1316736"/>
          </a:xfrm>
          <a:prstGeom prst="roundRect">
            <a:avLst>
              <a:gd name="adj" fmla="val 44444"/>
            </a:avLst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05079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Erreurs difficiles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44368" y="4498848"/>
            <a:ext cx="2862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Les responsabilités sont mélangées et les causes deviennent difficiles à isoler.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3822192"/>
            <a:ext cx="34290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986784"/>
            <a:ext cx="82296" cy="1316736"/>
          </a:xfrm>
          <a:prstGeom prst="roundRect">
            <a:avLst>
              <a:gd name="adj" fmla="val 44444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405079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1625"/>
                </a:solidFill>
              </a:rPr>
              <a:t>Maintenance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20256" y="4498848"/>
            <a:ext cx="2862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</a:rPr>
              <a:t>Le coût principal du code devient le temps nécessaire pour le relire et le faire évoluer.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OUVERTURE JOUR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Deux codes peuvent produire le même résultat…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…mais ne pas avoir du tout le même coût de maintenance.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Code difficile à comprendre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5029200" cy="3246120"/>
          </a:xfrm>
          <a:prstGeom prst="roundRect">
            <a:avLst>
              <a:gd name="adj" fmla="val 1690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645920"/>
            <a:ext cx="462686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f(x):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 = []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i in x: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i['a'] == 1 and i['b'] &gt; 0: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r.append(i['b'] * 1.2)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r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5806440" y="3090672"/>
            <a:ext cx="521208" cy="0"/>
          </a:xfrm>
          <a:prstGeom prst="line">
            <a:avLst/>
          </a:prstGeom>
          <a:noFill/>
          <a:ln w="25400">
            <a:solidFill>
              <a:srgbClr val="6E35B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73952" y="12252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35B6"/>
                </a:solidFill>
              </a:rPr>
              <a:t>Même logique, intention plus claire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73952" y="1481328"/>
            <a:ext cx="5029200" cy="3246120"/>
          </a:xfrm>
          <a:prstGeom prst="roundRect">
            <a:avLst>
              <a:gd name="adj" fmla="val 1690"/>
            </a:avLst>
          </a:prstGeom>
          <a:solidFill>
            <a:srgbClr val="1F1B25"/>
          </a:solidFill>
          <a:ln w="12700">
            <a:solidFill>
              <a:srgbClr val="1F1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645920"/>
            <a:ext cx="462686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calculate_active_totals(users):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totals = []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user in users: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is_billable(user):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totals.append(with_tax(user['amount']))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F6F2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totals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371600" y="5212080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625"/>
                </a:solidFill>
              </a:rPr>
              <a:t>La qualité du code influence directement sa capacité à évoluer.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1EAF9"/>
          </a:solidFill>
          <a:ln w="12700">
            <a:solidFill>
              <a:srgbClr val="F1EA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6E35B6"/>
                </a:solidFill>
              </a:rPr>
              <a:t>OUVERTURE JOUR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16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Jour 2 — Coder proprement et structurer un projet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du cours partira de ces problèmes pour introduire des pratiques de conception plus robustes.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2870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591056"/>
            <a:ext cx="310896" cy="310896"/>
          </a:xfrm>
          <a:prstGeom prst="ellipse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15910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25"/>
                </a:solidFill>
              </a:rPr>
              <a:t>Lisibilité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159105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F6878"/>
                </a:solidFill>
              </a:rPr>
              <a:t>Nommage, formatage, conventions et PEP 8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102870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2459736"/>
            <a:ext cx="310896" cy="310896"/>
          </a:xfrm>
          <a:prstGeom prst="ellipse">
            <a:avLst/>
          </a:prstGeom>
          <a:solidFill>
            <a:srgbClr val="315DA8"/>
          </a:solidFill>
          <a:ln w="12700">
            <a:solidFill>
              <a:srgbClr val="315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24597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25"/>
                </a:solidFill>
              </a:rPr>
              <a:t>Responsabilités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245973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F6878"/>
                </a:solidFill>
              </a:rPr>
              <a:t>Découper le code en fonctions et modules cohérents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914400" y="3154680"/>
            <a:ext cx="102870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3328416"/>
            <a:ext cx="310896" cy="310896"/>
          </a:xfrm>
          <a:prstGeom prst="ellipse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632" y="3328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25"/>
                </a:solidFill>
              </a:rPr>
              <a:t>Robustesse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0" y="332841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F6878"/>
                </a:solidFill>
              </a:rPr>
              <a:t>Gérer les erreurs et les cas inattendus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914400" y="4023360"/>
            <a:ext cx="102870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4197096"/>
            <a:ext cx="310896" cy="310896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41970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25"/>
                </a:solidFill>
              </a:rPr>
              <a:t>Réutilisabilité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419709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F6878"/>
                </a:solidFill>
              </a:rPr>
              <a:t>Éviter la duplication et concevoir des interfaces simples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914400" y="4892040"/>
            <a:ext cx="102870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ED7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" y="5065776"/>
            <a:ext cx="310896" cy="31089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27632" y="50657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25"/>
                </a:solidFill>
              </a:rPr>
              <a:t>Évolutivité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57600" y="50657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F6878"/>
                </a:solidFill>
              </a:rPr>
              <a:t>Refactoring, organisation du projet et dépendances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49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À retenir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192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72768" y="1700784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E5F3"/>
                </a:solidFill>
              </a:rPr>
              <a:t>Les types définissent ce que les valeurs représentent.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551176"/>
            <a:ext cx="192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505456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E5F3"/>
                </a:solidFill>
              </a:rPr>
              <a:t>Les structures organisent plusieurs valeurs selon un besoin précis.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502920" cy="502920"/>
          </a:xfrm>
          <a:prstGeom prst="ellipse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355848"/>
            <a:ext cx="192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3310128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E5F3"/>
                </a:solidFill>
              </a:rPr>
              <a:t>Conditions et boucles expriment la logique d’un programme.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14216"/>
            <a:ext cx="502920" cy="502920"/>
          </a:xfrm>
          <a:prstGeom prst="ellipse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4160520"/>
            <a:ext cx="192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4114800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E5F3"/>
                </a:solidFill>
              </a:rPr>
              <a:t>Les fonctions isolent des responsabilités et favorisent la réutilisation.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818888"/>
            <a:ext cx="502920" cy="502920"/>
          </a:xfrm>
          <a:prstGeom prst="ellipse">
            <a:avLst/>
          </a:prstGeom>
          <a:solidFill>
            <a:srgbClr val="6E35B6"/>
          </a:solidFill>
          <a:ln w="12700">
            <a:solidFill>
              <a:srgbClr val="6E3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965192"/>
            <a:ext cx="192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4919472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E5F3"/>
                </a:solidFill>
              </a:rPr>
              <a:t>Les objets regroupent données et comportements autour d’une même entité.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58978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BA7C8"/>
                </a:solidFill>
              </a:rPr>
              <a:t>Prochaine étape : écrire du code qui reste clair lorsque le projet grandit.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NexaCourse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Renforcement Python — Partie 1 : Fondamentaux du langage</dc:title>
  <dc:subject>Renforcement Python - Partie 1</dc:subject>
  <dc:creator>OpenAI</dc:creator>
  <cp:lastModifiedBy>OpenAI</cp:lastModifiedBy>
  <cp:revision>1</cp:revision>
  <dcterms:created xsi:type="dcterms:W3CDTF">2026-09-24T14:38:59Z</dcterms:created>
  <dcterms:modified xsi:type="dcterms:W3CDTF">2026-09-24T14:38:59Z</dcterms:modified>
</cp:coreProperties>
</file>